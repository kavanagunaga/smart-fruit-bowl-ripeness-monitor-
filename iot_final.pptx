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1"/>
  </p:notesMasterIdLst>
  <p:sldIdLst>
    <p:sldId id="258" r:id="rId3"/>
    <p:sldId id="275" r:id="rId4"/>
    <p:sldId id="285" r:id="rId5"/>
    <p:sldId id="281" r:id="rId6"/>
    <p:sldId id="292" r:id="rId7"/>
    <p:sldId id="278" r:id="rId8"/>
    <p:sldId id="286" r:id="rId9"/>
    <p:sldId id="288" r:id="rId10"/>
    <p:sldId id="282" r:id="rId11"/>
    <p:sldId id="289" r:id="rId12"/>
    <p:sldId id="279" r:id="rId13"/>
    <p:sldId id="283" r:id="rId14"/>
    <p:sldId id="287" r:id="rId15"/>
    <p:sldId id="280" r:id="rId16"/>
    <p:sldId id="295" r:id="rId17"/>
    <p:sldId id="293" r:id="rId18"/>
    <p:sldId id="291" r:id="rId19"/>
    <p:sldId id="29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34E80D-52B3-385B-8EF3-6DAD80784A3A}" v="34" dt="2026-06-05T05:09:09.734"/>
    <p1510:client id="{4C473A10-62B9-FE2A-909F-B7581851D776}" v="2" dt="2026-06-05T06:03:30.347"/>
    <p1510:client id="{945CBE0D-DCA1-02F8-B1C2-B7F6EB7D4F90}" v="30" dt="2026-06-04T18:26:37.875"/>
    <p1510:client id="{D9B9321B-5F94-42AD-B01C-7FBF0E48A82F}" v="388" dt="2026-06-05T03:17:48.1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260C16-2456-4EE7-B6F1-CE722159B48A}" type="datetimeFigureOut">
              <a:rPr lang="en-US" smtClean="0"/>
              <a:t>6/5/2026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53C9A6-2674-4B6A-BA1A-0C550CE0501B}" type="slidenum">
              <a:rPr lang="en-US" smtClean="0"/>
              <a:t>‹#›</a:t>
            </a:fld>
            <a:endParaRPr lang="en-US"/>
          </a:p>
        </p:txBody>
      </p:sp>
    </p:spTree>
    <p:extLst>
      <p:ext uri="{BB962C8B-B14F-4D97-AF65-F5344CB8AC3E}">
        <p14:creationId xmlns:p14="http://schemas.microsoft.com/office/powerpoint/2010/main" val="141886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3C9A6-2674-4B6A-BA1A-0C550CE0501B}" type="slidenum">
              <a:rPr lang="en-US" smtClean="0"/>
              <a:t>12</a:t>
            </a:fld>
            <a:endParaRPr lang="en-US"/>
          </a:p>
        </p:txBody>
      </p:sp>
    </p:spTree>
    <p:extLst>
      <p:ext uri="{BB962C8B-B14F-4D97-AF65-F5344CB8AC3E}">
        <p14:creationId xmlns:p14="http://schemas.microsoft.com/office/powerpoint/2010/main" val="4072896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41CC8040-544D-4C4A-8AD6-102870B2816F}"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8F824-1E8B-43C3-BEE4-E3027DF8DFB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3789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C8040-544D-4C4A-8AD6-102870B2816F}"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8F824-1E8B-43C3-BEE4-E3027DF8DFBD}" type="slidenum">
              <a:rPr lang="en-US" smtClean="0"/>
              <a:t>‹#›</a:t>
            </a:fld>
            <a:endParaRPr lang="en-US"/>
          </a:p>
        </p:txBody>
      </p:sp>
    </p:spTree>
    <p:extLst>
      <p:ext uri="{BB962C8B-B14F-4D97-AF65-F5344CB8AC3E}">
        <p14:creationId xmlns:p14="http://schemas.microsoft.com/office/powerpoint/2010/main" val="3129396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CC8040-544D-4C4A-8AD6-102870B2816F}"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8F824-1E8B-43C3-BEE4-E3027DF8DFB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764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1CC8040-544D-4C4A-8AD6-102870B2816F}"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8F824-1E8B-43C3-BEE4-E3027DF8DFBD}" type="slidenum">
              <a:rPr lang="en-US" smtClean="0"/>
              <a:t>‹#›</a:t>
            </a:fld>
            <a:endParaRPr lang="en-US"/>
          </a:p>
        </p:txBody>
      </p:sp>
    </p:spTree>
    <p:extLst>
      <p:ext uri="{BB962C8B-B14F-4D97-AF65-F5344CB8AC3E}">
        <p14:creationId xmlns:p14="http://schemas.microsoft.com/office/powerpoint/2010/main" val="1231042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CC8040-544D-4C4A-8AD6-102870B2816F}"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B8F824-1E8B-43C3-BEE4-E3027DF8DFBD}" type="slidenum">
              <a:rPr lang="en-US" smtClean="0"/>
              <a:t>‹#›</a:t>
            </a:fld>
            <a:endParaRPr lang="en-US"/>
          </a:p>
        </p:txBody>
      </p:sp>
    </p:spTree>
    <p:extLst>
      <p:ext uri="{BB962C8B-B14F-4D97-AF65-F5344CB8AC3E}">
        <p14:creationId xmlns:p14="http://schemas.microsoft.com/office/powerpoint/2010/main" val="4097780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CC8040-544D-4C4A-8AD6-102870B2816F}"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B8F824-1E8B-43C3-BEE4-E3027DF8DFBD}" type="slidenum">
              <a:rPr lang="en-US" smtClean="0"/>
              <a:t>‹#›</a:t>
            </a:fld>
            <a:endParaRPr lang="en-US"/>
          </a:p>
        </p:txBody>
      </p:sp>
    </p:spTree>
    <p:extLst>
      <p:ext uri="{BB962C8B-B14F-4D97-AF65-F5344CB8AC3E}">
        <p14:creationId xmlns:p14="http://schemas.microsoft.com/office/powerpoint/2010/main" val="2325262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1CC8040-544D-4C4A-8AD6-102870B2816F}" type="datetimeFigureOut">
              <a:rPr lang="en-US" smtClean="0"/>
              <a:t>6/5/2026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1B8F824-1E8B-43C3-BEE4-E3027DF8DFBD}" type="slidenum">
              <a:rPr lang="en-US" smtClean="0"/>
              <a:t>‹#›</a:t>
            </a:fld>
            <a:endParaRPr lang="en-US"/>
          </a:p>
        </p:txBody>
      </p:sp>
    </p:spTree>
    <p:extLst>
      <p:ext uri="{BB962C8B-B14F-4D97-AF65-F5344CB8AC3E}">
        <p14:creationId xmlns:p14="http://schemas.microsoft.com/office/powerpoint/2010/main" val="1315605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1CC8040-544D-4C4A-8AD6-102870B2816F}" type="datetimeFigureOut">
              <a:rPr lang="en-US" smtClean="0"/>
              <a:t>6/5/2026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1B8F824-1E8B-43C3-BEE4-E3027DF8DFBD}" type="slidenum">
              <a:rPr lang="en-US" smtClean="0"/>
              <a:t>‹#›</a:t>
            </a:fld>
            <a:endParaRPr lang="en-US"/>
          </a:p>
        </p:txBody>
      </p:sp>
    </p:spTree>
    <p:extLst>
      <p:ext uri="{BB962C8B-B14F-4D97-AF65-F5344CB8AC3E}">
        <p14:creationId xmlns:p14="http://schemas.microsoft.com/office/powerpoint/2010/main" val="1022164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CC8040-544D-4C4A-8AD6-102870B2816F}"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8F824-1E8B-43C3-BEE4-E3027DF8DFBD}" type="slidenum">
              <a:rPr lang="en-US" smtClean="0"/>
              <a:t>‹#›</a:t>
            </a:fld>
            <a:endParaRPr lang="en-US"/>
          </a:p>
        </p:txBody>
      </p:sp>
    </p:spTree>
    <p:extLst>
      <p:ext uri="{BB962C8B-B14F-4D97-AF65-F5344CB8AC3E}">
        <p14:creationId xmlns:p14="http://schemas.microsoft.com/office/powerpoint/2010/main" val="2078552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C8040-544D-4C4A-8AD6-102870B2816F}"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8F824-1E8B-43C3-BEE4-E3027DF8DFBD}" type="slidenum">
              <a:rPr lang="en-US" smtClean="0"/>
              <a:t>‹#›</a:t>
            </a:fld>
            <a:endParaRPr lang="en-US"/>
          </a:p>
        </p:txBody>
      </p:sp>
    </p:spTree>
    <p:extLst>
      <p:ext uri="{BB962C8B-B14F-4D97-AF65-F5344CB8AC3E}">
        <p14:creationId xmlns:p14="http://schemas.microsoft.com/office/powerpoint/2010/main" val="3624209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C8040-544D-4C4A-8AD6-102870B2816F}"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8F824-1E8B-43C3-BEE4-E3027DF8DFBD}" type="slidenum">
              <a:rPr lang="en-US" smtClean="0"/>
              <a:t>‹#›</a:t>
            </a:fld>
            <a:endParaRPr lang="en-US"/>
          </a:p>
        </p:txBody>
      </p:sp>
    </p:spTree>
    <p:extLst>
      <p:ext uri="{BB962C8B-B14F-4D97-AF65-F5344CB8AC3E}">
        <p14:creationId xmlns:p14="http://schemas.microsoft.com/office/powerpoint/2010/main" val="22953496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2C1D305-A98C-4058-84F6-A9AFAC752151}"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BC3DEB-C256-4E9E-B84A-5404B00A1A65}" type="slidenum">
              <a:rPr lang="en-IN" smtClean="0"/>
              <a:t>‹#›</a:t>
            </a:fld>
            <a:endParaRPr lang="en-IN"/>
          </a:p>
        </p:txBody>
      </p:sp>
    </p:spTree>
    <p:extLst>
      <p:ext uri="{BB962C8B-B14F-4D97-AF65-F5344CB8AC3E}">
        <p14:creationId xmlns:p14="http://schemas.microsoft.com/office/powerpoint/2010/main" val="41613313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2C1D305-A98C-4058-84F6-A9AFAC752151}"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BC3DEB-C256-4E9E-B84A-5404B00A1A65}" type="slidenum">
              <a:rPr lang="en-IN" smtClean="0"/>
              <a:t>‹#›</a:t>
            </a:fld>
            <a:endParaRPr lang="en-IN"/>
          </a:p>
        </p:txBody>
      </p:sp>
    </p:spTree>
    <p:extLst>
      <p:ext uri="{BB962C8B-B14F-4D97-AF65-F5344CB8AC3E}">
        <p14:creationId xmlns:p14="http://schemas.microsoft.com/office/powerpoint/2010/main" val="13834171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C1D305-A98C-4058-84F6-A9AFAC752151}"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BC3DEB-C256-4E9E-B84A-5404B00A1A65}" type="slidenum">
              <a:rPr lang="en-IN" smtClean="0"/>
              <a:t>‹#›</a:t>
            </a:fld>
            <a:endParaRPr lang="en-IN"/>
          </a:p>
        </p:txBody>
      </p:sp>
    </p:spTree>
    <p:extLst>
      <p:ext uri="{BB962C8B-B14F-4D97-AF65-F5344CB8AC3E}">
        <p14:creationId xmlns:p14="http://schemas.microsoft.com/office/powerpoint/2010/main" val="42461931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2C1D305-A98C-4058-84F6-A9AFAC752151}"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BC3DEB-C256-4E9E-B84A-5404B00A1A65}" type="slidenum">
              <a:rPr lang="en-IN" smtClean="0"/>
              <a:t>‹#›</a:t>
            </a:fld>
            <a:endParaRPr lang="en-IN"/>
          </a:p>
        </p:txBody>
      </p:sp>
    </p:spTree>
    <p:extLst>
      <p:ext uri="{BB962C8B-B14F-4D97-AF65-F5344CB8AC3E}">
        <p14:creationId xmlns:p14="http://schemas.microsoft.com/office/powerpoint/2010/main" val="8524542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2C1D305-A98C-4058-84F6-A9AFAC752151}" type="datetimeFigureOut">
              <a:rPr lang="en-IN" smtClean="0"/>
              <a:t>05-06-2026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BC3DEB-C256-4E9E-B84A-5404B00A1A65}" type="slidenum">
              <a:rPr lang="en-IN" smtClean="0"/>
              <a:t>‹#›</a:t>
            </a:fld>
            <a:endParaRPr lang="en-IN"/>
          </a:p>
        </p:txBody>
      </p:sp>
    </p:spTree>
    <p:extLst>
      <p:ext uri="{BB962C8B-B14F-4D97-AF65-F5344CB8AC3E}">
        <p14:creationId xmlns:p14="http://schemas.microsoft.com/office/powerpoint/2010/main" val="16951049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2C1D305-A98C-4058-84F6-A9AFAC752151}" type="datetimeFigureOut">
              <a:rPr lang="en-IN" smtClean="0"/>
              <a:t>05-06-2026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3BC3DEB-C256-4E9E-B84A-5404B00A1A65}" type="slidenum">
              <a:rPr lang="en-IN" smtClean="0"/>
              <a:t>‹#›</a:t>
            </a:fld>
            <a:endParaRPr lang="en-IN"/>
          </a:p>
        </p:txBody>
      </p:sp>
    </p:spTree>
    <p:extLst>
      <p:ext uri="{BB962C8B-B14F-4D97-AF65-F5344CB8AC3E}">
        <p14:creationId xmlns:p14="http://schemas.microsoft.com/office/powerpoint/2010/main" val="33467601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C1D305-A98C-4058-84F6-A9AFAC752151}" type="datetimeFigureOut">
              <a:rPr lang="en-IN" smtClean="0"/>
              <a:t>05-06-2026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3BC3DEB-C256-4E9E-B84A-5404B00A1A65}" type="slidenum">
              <a:rPr lang="en-IN" smtClean="0"/>
              <a:t>‹#›</a:t>
            </a:fld>
            <a:endParaRPr lang="en-IN"/>
          </a:p>
        </p:txBody>
      </p:sp>
    </p:spTree>
    <p:extLst>
      <p:ext uri="{BB962C8B-B14F-4D97-AF65-F5344CB8AC3E}">
        <p14:creationId xmlns:p14="http://schemas.microsoft.com/office/powerpoint/2010/main" val="28464197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C1D305-A98C-4058-84F6-A9AFAC752151}"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BC3DEB-C256-4E9E-B84A-5404B00A1A65}" type="slidenum">
              <a:rPr lang="en-IN" smtClean="0"/>
              <a:t>‹#›</a:t>
            </a:fld>
            <a:endParaRPr lang="en-IN"/>
          </a:p>
        </p:txBody>
      </p:sp>
    </p:spTree>
    <p:extLst>
      <p:ext uri="{BB962C8B-B14F-4D97-AF65-F5344CB8AC3E}">
        <p14:creationId xmlns:p14="http://schemas.microsoft.com/office/powerpoint/2010/main" val="91744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C1D305-A98C-4058-84F6-A9AFAC752151}"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BC3DEB-C256-4E9E-B84A-5404B00A1A65}" type="slidenum">
              <a:rPr lang="en-IN" smtClean="0"/>
              <a:t>‹#›</a:t>
            </a:fld>
            <a:endParaRPr lang="en-IN"/>
          </a:p>
        </p:txBody>
      </p:sp>
    </p:spTree>
    <p:extLst>
      <p:ext uri="{BB962C8B-B14F-4D97-AF65-F5344CB8AC3E}">
        <p14:creationId xmlns:p14="http://schemas.microsoft.com/office/powerpoint/2010/main" val="38650337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2C1D305-A98C-4058-84F6-A9AFAC752151}"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BC3DEB-C256-4E9E-B84A-5404B00A1A65}" type="slidenum">
              <a:rPr lang="en-IN" smtClean="0"/>
              <a:t>‹#›</a:t>
            </a:fld>
            <a:endParaRPr lang="en-IN"/>
          </a:p>
        </p:txBody>
      </p:sp>
    </p:spTree>
    <p:extLst>
      <p:ext uri="{BB962C8B-B14F-4D97-AF65-F5344CB8AC3E}">
        <p14:creationId xmlns:p14="http://schemas.microsoft.com/office/powerpoint/2010/main" val="26494227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2C1D305-A98C-4058-84F6-A9AFAC752151}"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BC3DEB-C256-4E9E-B84A-5404B00A1A65}" type="slidenum">
              <a:rPr lang="en-IN" smtClean="0"/>
              <a:t>‹#›</a:t>
            </a:fld>
            <a:endParaRPr lang="en-IN"/>
          </a:p>
        </p:txBody>
      </p:sp>
    </p:spTree>
    <p:extLst>
      <p:ext uri="{BB962C8B-B14F-4D97-AF65-F5344CB8AC3E}">
        <p14:creationId xmlns:p14="http://schemas.microsoft.com/office/powerpoint/2010/main" val="1401366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1CC8040-544D-4C4A-8AD6-102870B2816F}" type="datetimeFigureOut">
              <a:rPr lang="en-US" smtClean="0"/>
              <a:t>6/5/2026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1B8F824-1E8B-43C3-BEE4-E3027DF8DFB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09419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C1D305-A98C-4058-84F6-A9AFAC752151}" type="datetimeFigureOut">
              <a:rPr lang="en-IN" smtClean="0"/>
              <a:t>05-06-2026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BC3DEB-C256-4E9E-B84A-5404B00A1A65}" type="slidenum">
              <a:rPr lang="en-IN" smtClean="0"/>
              <a:t>‹#›</a:t>
            </a:fld>
            <a:endParaRPr lang="en-IN"/>
          </a:p>
        </p:txBody>
      </p:sp>
    </p:spTree>
    <p:extLst>
      <p:ext uri="{BB962C8B-B14F-4D97-AF65-F5344CB8AC3E}">
        <p14:creationId xmlns:p14="http://schemas.microsoft.com/office/powerpoint/2010/main" val="298713392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5" Type="http://schemas.openxmlformats.org/officeDocument/2006/relationships/image" Target="../media/image12.jpeg"/><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D70DB-1F2A-251F-C010-D1CBDD5FA2E4}"/>
              </a:ext>
            </a:extLst>
          </p:cNvPr>
          <p:cNvSpPr txBox="1">
            <a:spLocks/>
          </p:cNvSpPr>
          <p:nvPr/>
        </p:nvSpPr>
        <p:spPr>
          <a:xfrm>
            <a:off x="1303958" y="796061"/>
            <a:ext cx="9299944" cy="1367789"/>
          </a:xfrm>
          <a:prstGeom prst="rect">
            <a:avLst/>
          </a:prstGeom>
        </p:spPr>
        <p:txBody>
          <a:bodyPr anchor="ctr" anchorCtr="0">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a:t>Smart Fruit Bowl — Ripeness Monitor</a:t>
            </a:r>
            <a:endParaRPr lang="en-IN" sz="2800" b="1"/>
          </a:p>
        </p:txBody>
      </p:sp>
      <p:graphicFrame>
        <p:nvGraphicFramePr>
          <p:cNvPr id="3" name="Table 2">
            <a:extLst>
              <a:ext uri="{FF2B5EF4-FFF2-40B4-BE49-F238E27FC236}">
                <a16:creationId xmlns:a16="http://schemas.microsoft.com/office/drawing/2014/main" id="{58A17F37-3335-B44A-0578-318F10439B9C}"/>
              </a:ext>
            </a:extLst>
          </p:cNvPr>
          <p:cNvGraphicFramePr/>
          <p:nvPr>
            <p:extLst>
              <p:ext uri="{D42A27DB-BD31-4B8C-83A1-F6EECF244321}">
                <p14:modId xmlns:p14="http://schemas.microsoft.com/office/powerpoint/2010/main" val="2139010153"/>
              </p:ext>
            </p:extLst>
          </p:nvPr>
        </p:nvGraphicFramePr>
        <p:xfrm>
          <a:off x="1694568" y="3666594"/>
          <a:ext cx="8534400" cy="1828800"/>
        </p:xfrm>
        <a:graphic>
          <a:graphicData uri="http://schemas.openxmlformats.org/drawingml/2006/table">
            <a:tbl>
              <a:tblPr firstRow="1" bandRow="1">
                <a:tableStyleId>{5C22544A-7EE6-4342-B048-85BDC9FD1C3A}</a:tableStyleId>
              </a:tblPr>
              <a:tblGrid>
                <a:gridCol w="898525">
                  <a:extLst>
                    <a:ext uri="{9D8B030D-6E8A-4147-A177-3AD203B41FA5}">
                      <a16:colId xmlns:a16="http://schemas.microsoft.com/office/drawing/2014/main" val="20000"/>
                    </a:ext>
                  </a:extLst>
                </a:gridCol>
                <a:gridCol w="3368675">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tblGrid>
              <a:tr h="365760">
                <a:tc>
                  <a:txBody>
                    <a:bodyPr/>
                    <a:lstStyle/>
                    <a:p>
                      <a:pPr>
                        <a:buNone/>
                      </a:pPr>
                      <a:r>
                        <a:rPr lang="en-US"/>
                        <a:t>SR No</a:t>
                      </a:r>
                    </a:p>
                  </a:txBody>
                  <a:tcPr/>
                </a:tc>
                <a:tc>
                  <a:txBody>
                    <a:bodyPr/>
                    <a:lstStyle/>
                    <a:p>
                      <a:pPr>
                        <a:buNone/>
                      </a:pPr>
                      <a:r>
                        <a:rPr lang="en-US"/>
                        <a:t>NAME</a:t>
                      </a:r>
                    </a:p>
                  </a:txBody>
                  <a:tcPr/>
                </a:tc>
                <a:tc>
                  <a:txBody>
                    <a:bodyPr/>
                    <a:lstStyle/>
                    <a:p>
                      <a:pPr>
                        <a:buNone/>
                      </a:pPr>
                      <a:r>
                        <a:rPr lang="en-US"/>
                        <a:t>USN</a:t>
                      </a:r>
                    </a:p>
                  </a:txBody>
                  <a:tcPr/>
                </a:tc>
                <a:tc>
                  <a:txBody>
                    <a:bodyPr/>
                    <a:lstStyle/>
                    <a:p>
                      <a:pPr>
                        <a:buNone/>
                      </a:pPr>
                      <a:r>
                        <a:rPr lang="en-US"/>
                        <a:t>ROLL NO</a:t>
                      </a:r>
                    </a:p>
                  </a:txBody>
                  <a:tcPr/>
                </a:tc>
                <a:extLst>
                  <a:ext uri="{0D108BD9-81ED-4DB2-BD59-A6C34878D82A}">
                    <a16:rowId xmlns:a16="http://schemas.microsoft.com/office/drawing/2014/main" val="10000"/>
                  </a:ext>
                </a:extLst>
              </a:tr>
              <a:tr h="365760">
                <a:tc>
                  <a:txBody>
                    <a:bodyPr/>
                    <a:lstStyle/>
                    <a:p>
                      <a:pPr>
                        <a:buNone/>
                      </a:pPr>
                      <a:r>
                        <a:rPr lang="en-US"/>
                        <a:t>1</a:t>
                      </a:r>
                    </a:p>
                  </a:txBody>
                  <a:tcPr/>
                </a:tc>
                <a:tc>
                  <a:txBody>
                    <a:bodyPr/>
                    <a:lstStyle/>
                    <a:p>
                      <a:pPr>
                        <a:buNone/>
                      </a:pPr>
                      <a:r>
                        <a:rPr lang="en-US"/>
                        <a:t>Vinay </a:t>
                      </a:r>
                      <a:r>
                        <a:rPr lang="en-US" err="1"/>
                        <a:t>Matade</a:t>
                      </a:r>
                      <a:endParaRPr lang="en-US"/>
                    </a:p>
                  </a:txBody>
                  <a:tcPr/>
                </a:tc>
                <a:tc>
                  <a:txBody>
                    <a:bodyPr/>
                    <a:lstStyle/>
                    <a:p>
                      <a:pPr>
                        <a:buNone/>
                      </a:pPr>
                      <a:r>
                        <a:rPr lang="en-US"/>
                        <a:t>01FE23BEC239</a:t>
                      </a:r>
                    </a:p>
                  </a:txBody>
                  <a:tcPr/>
                </a:tc>
                <a:tc>
                  <a:txBody>
                    <a:bodyPr/>
                    <a:lstStyle/>
                    <a:p>
                      <a:pPr>
                        <a:buNone/>
                      </a:pPr>
                      <a:r>
                        <a:rPr lang="en-US"/>
                        <a:t>508</a:t>
                      </a:r>
                    </a:p>
                  </a:txBody>
                  <a:tcPr/>
                </a:tc>
                <a:extLst>
                  <a:ext uri="{0D108BD9-81ED-4DB2-BD59-A6C34878D82A}">
                    <a16:rowId xmlns:a16="http://schemas.microsoft.com/office/drawing/2014/main" val="10001"/>
                  </a:ext>
                </a:extLst>
              </a:tr>
              <a:tr h="365760">
                <a:tc>
                  <a:txBody>
                    <a:bodyPr/>
                    <a:lstStyle/>
                    <a:p>
                      <a:pPr>
                        <a:buNone/>
                      </a:pPr>
                      <a:r>
                        <a:rPr lang="en-US"/>
                        <a:t>2</a:t>
                      </a:r>
                    </a:p>
                  </a:txBody>
                  <a:tcPr/>
                </a:tc>
                <a:tc>
                  <a:txBody>
                    <a:bodyPr/>
                    <a:lstStyle/>
                    <a:p>
                      <a:pPr>
                        <a:buNone/>
                      </a:pPr>
                      <a:r>
                        <a:rPr lang="en-US"/>
                        <a:t>Spoorti B</a:t>
                      </a:r>
                    </a:p>
                  </a:txBody>
                  <a:tcPr/>
                </a:tc>
                <a:tc>
                  <a:txBody>
                    <a:bodyPr/>
                    <a:lstStyle/>
                    <a:p>
                      <a:pPr>
                        <a:buNone/>
                      </a:pPr>
                      <a:r>
                        <a:rPr lang="en-US" sz="1800">
                          <a:sym typeface="+mn-ea"/>
                        </a:rPr>
                        <a:t>01FE23BEC246</a:t>
                      </a:r>
                      <a:endParaRPr lang="en-US"/>
                    </a:p>
                  </a:txBody>
                  <a:tcPr/>
                </a:tc>
                <a:tc>
                  <a:txBody>
                    <a:bodyPr/>
                    <a:lstStyle/>
                    <a:p>
                      <a:pPr>
                        <a:buNone/>
                      </a:pPr>
                      <a:r>
                        <a:rPr lang="en-US"/>
                        <a:t>513</a:t>
                      </a:r>
                    </a:p>
                  </a:txBody>
                  <a:tcPr/>
                </a:tc>
                <a:extLst>
                  <a:ext uri="{0D108BD9-81ED-4DB2-BD59-A6C34878D82A}">
                    <a16:rowId xmlns:a16="http://schemas.microsoft.com/office/drawing/2014/main" val="10002"/>
                  </a:ext>
                </a:extLst>
              </a:tr>
              <a:tr h="365760">
                <a:tc>
                  <a:txBody>
                    <a:bodyPr/>
                    <a:lstStyle/>
                    <a:p>
                      <a:pPr>
                        <a:buNone/>
                      </a:pPr>
                      <a:r>
                        <a:rPr lang="en-US"/>
                        <a:t>3</a:t>
                      </a:r>
                    </a:p>
                  </a:txBody>
                  <a:tcPr/>
                </a:tc>
                <a:tc>
                  <a:txBody>
                    <a:bodyPr/>
                    <a:lstStyle/>
                    <a:p>
                      <a:pPr>
                        <a:buNone/>
                      </a:pPr>
                      <a:r>
                        <a:rPr lang="en-US"/>
                        <a:t>Shreyas P Wali</a:t>
                      </a:r>
                    </a:p>
                  </a:txBody>
                  <a:tcPr/>
                </a:tc>
                <a:tc>
                  <a:txBody>
                    <a:bodyPr/>
                    <a:lstStyle/>
                    <a:p>
                      <a:pPr>
                        <a:buNone/>
                      </a:pPr>
                      <a:r>
                        <a:rPr lang="en-US" sz="1800">
                          <a:sym typeface="+mn-ea"/>
                        </a:rPr>
                        <a:t>01FE23BEC249</a:t>
                      </a:r>
                      <a:endParaRPr lang="en-US"/>
                    </a:p>
                  </a:txBody>
                  <a:tcPr/>
                </a:tc>
                <a:tc>
                  <a:txBody>
                    <a:bodyPr/>
                    <a:lstStyle/>
                    <a:p>
                      <a:pPr>
                        <a:buNone/>
                      </a:pPr>
                      <a:r>
                        <a:rPr lang="en-US"/>
                        <a:t>515</a:t>
                      </a:r>
                    </a:p>
                  </a:txBody>
                  <a:tcPr/>
                </a:tc>
                <a:extLst>
                  <a:ext uri="{0D108BD9-81ED-4DB2-BD59-A6C34878D82A}">
                    <a16:rowId xmlns:a16="http://schemas.microsoft.com/office/drawing/2014/main" val="10003"/>
                  </a:ext>
                </a:extLst>
              </a:tr>
              <a:tr h="365760">
                <a:tc>
                  <a:txBody>
                    <a:bodyPr/>
                    <a:lstStyle/>
                    <a:p>
                      <a:pPr>
                        <a:buNone/>
                      </a:pPr>
                      <a:r>
                        <a:rPr lang="en-US"/>
                        <a:t>4</a:t>
                      </a:r>
                    </a:p>
                  </a:txBody>
                  <a:tcPr/>
                </a:tc>
                <a:tc>
                  <a:txBody>
                    <a:bodyPr/>
                    <a:lstStyle/>
                    <a:p>
                      <a:pPr>
                        <a:buNone/>
                      </a:pPr>
                      <a:r>
                        <a:rPr lang="en-US"/>
                        <a:t>Kavana Gunga</a:t>
                      </a:r>
                    </a:p>
                  </a:txBody>
                  <a:tcPr/>
                </a:tc>
                <a:tc>
                  <a:txBody>
                    <a:bodyPr/>
                    <a:lstStyle/>
                    <a:p>
                      <a:pPr>
                        <a:buNone/>
                      </a:pPr>
                      <a:r>
                        <a:rPr lang="en-US" sz="1800">
                          <a:sym typeface="+mn-ea"/>
                        </a:rPr>
                        <a:t>01FE23BEC263</a:t>
                      </a:r>
                      <a:endParaRPr lang="en-US"/>
                    </a:p>
                  </a:txBody>
                  <a:tcPr/>
                </a:tc>
                <a:tc>
                  <a:txBody>
                    <a:bodyPr/>
                    <a:lstStyle/>
                    <a:p>
                      <a:pPr>
                        <a:buNone/>
                      </a:pPr>
                      <a:r>
                        <a:rPr lang="en-US"/>
                        <a:t>530</a:t>
                      </a:r>
                    </a:p>
                  </a:txBody>
                  <a:tcPr/>
                </a:tc>
                <a:extLst>
                  <a:ext uri="{0D108BD9-81ED-4DB2-BD59-A6C34878D82A}">
                    <a16:rowId xmlns:a16="http://schemas.microsoft.com/office/drawing/2014/main" val="10004"/>
                  </a:ext>
                </a:extLst>
              </a:tr>
            </a:tbl>
          </a:graphicData>
        </a:graphic>
      </p:graphicFrame>
      <p:pic>
        <p:nvPicPr>
          <p:cNvPr id="4" name="Google Shape;89;p13" title="KLE Logo.png">
            <a:extLst>
              <a:ext uri="{FF2B5EF4-FFF2-40B4-BE49-F238E27FC236}">
                <a16:creationId xmlns:a16="http://schemas.microsoft.com/office/drawing/2014/main" id="{E824BAD3-4BD6-2B8D-56E7-7071D68F6BDE}"/>
              </a:ext>
            </a:extLst>
          </p:cNvPr>
          <p:cNvPicPr preferRelativeResize="0"/>
          <p:nvPr/>
        </p:nvPicPr>
        <p:blipFill>
          <a:blip r:embed="rId2">
            <a:alphaModFix/>
          </a:blip>
          <a:stretch>
            <a:fillRect/>
          </a:stretch>
        </p:blipFill>
        <p:spPr>
          <a:xfrm>
            <a:off x="9015804" y="61523"/>
            <a:ext cx="3176196" cy="599584"/>
          </a:xfrm>
          <a:prstGeom prst="rect">
            <a:avLst/>
          </a:prstGeom>
          <a:noFill/>
          <a:ln>
            <a:noFill/>
          </a:ln>
        </p:spPr>
      </p:pic>
    </p:spTree>
    <p:extLst>
      <p:ext uri="{BB962C8B-B14F-4D97-AF65-F5344CB8AC3E}">
        <p14:creationId xmlns:p14="http://schemas.microsoft.com/office/powerpoint/2010/main" val="728470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B5D7C-33BB-3309-A235-DDEC85C4ACF4}"/>
              </a:ext>
            </a:extLst>
          </p:cNvPr>
          <p:cNvSpPr>
            <a:spLocks noGrp="1"/>
          </p:cNvSpPr>
          <p:nvPr>
            <p:ph type="title"/>
          </p:nvPr>
        </p:nvSpPr>
        <p:spPr>
          <a:xfrm>
            <a:off x="838200" y="365125"/>
            <a:ext cx="10515600" cy="1006477"/>
          </a:xfrm>
        </p:spPr>
        <p:txBody>
          <a:bodyPr>
            <a:normAutofit/>
          </a:bodyPr>
          <a:lstStyle/>
          <a:p>
            <a:r>
              <a:rPr lang="en-IN" sz="4800" b="1"/>
              <a:t>Problem Statement</a:t>
            </a:r>
          </a:p>
        </p:txBody>
      </p:sp>
      <p:pic>
        <p:nvPicPr>
          <p:cNvPr id="6" name="Google Shape;89;p13" title="KLE Logo.png">
            <a:extLst>
              <a:ext uri="{FF2B5EF4-FFF2-40B4-BE49-F238E27FC236}">
                <a16:creationId xmlns:a16="http://schemas.microsoft.com/office/drawing/2014/main" id="{DD719792-86B1-3343-6E01-1943F6BD82D2}"/>
              </a:ext>
            </a:extLst>
          </p:cNvPr>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Picture 7">
            <a:extLst>
              <a:ext uri="{FF2B5EF4-FFF2-40B4-BE49-F238E27FC236}">
                <a16:creationId xmlns:a16="http://schemas.microsoft.com/office/drawing/2014/main" id="{8CAC4A04-49F2-E87D-0EE4-03050C8D2B22}"/>
              </a:ext>
            </a:extLst>
          </p:cNvPr>
          <p:cNvPicPr>
            <a:picLocks noChangeAspect="1"/>
          </p:cNvPicPr>
          <p:nvPr/>
        </p:nvPicPr>
        <p:blipFill>
          <a:blip r:embed="rId3"/>
          <a:stretch>
            <a:fillRect/>
          </a:stretch>
        </p:blipFill>
        <p:spPr>
          <a:xfrm>
            <a:off x="0" y="6341320"/>
            <a:ext cx="12192000" cy="516680"/>
          </a:xfrm>
          <a:prstGeom prst="rect">
            <a:avLst/>
          </a:prstGeom>
        </p:spPr>
      </p:pic>
      <p:cxnSp>
        <p:nvCxnSpPr>
          <p:cNvPr id="9" name="Straight Connector 8">
            <a:extLst>
              <a:ext uri="{FF2B5EF4-FFF2-40B4-BE49-F238E27FC236}">
                <a16:creationId xmlns:a16="http://schemas.microsoft.com/office/drawing/2014/main" id="{668C6FAE-D81F-C4BF-F182-C1CDA8A08E6C}"/>
              </a:ext>
            </a:extLst>
          </p:cNvPr>
          <p:cNvCxnSpPr/>
          <p:nvPr/>
        </p:nvCxnSpPr>
        <p:spPr>
          <a:xfrm flipV="1">
            <a:off x="299258" y="1446415"/>
            <a:ext cx="11238807" cy="74814"/>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FBF69A0F-3D8B-A8E0-166E-FB30DB1BE74A}"/>
              </a:ext>
            </a:extLst>
          </p:cNvPr>
          <p:cNvSpPr>
            <a:spLocks noGrp="1"/>
          </p:cNvSpPr>
          <p:nvPr>
            <p:ph idx="1"/>
          </p:nvPr>
        </p:nvSpPr>
        <p:spPr/>
        <p:txBody>
          <a:bodyPr vert="horz" lIns="91440" tIns="45720" rIns="91440" bIns="45720" rtlCol="0" anchor="t">
            <a:normAutofit/>
          </a:bodyPr>
          <a:lstStyle/>
          <a:p>
            <a:pPr marL="0" indent="0">
              <a:buNone/>
            </a:pPr>
            <a:r>
              <a:rPr lang="en-US" dirty="0"/>
              <a:t>Design and build a smart fruit bowl that monitors VOC, temperature, and humidity estimate fruit ripeness and indicate whether the fruit is ripening, at peak, or overripe and help increase shelf life by enabling timely consumption.</a:t>
            </a:r>
          </a:p>
        </p:txBody>
      </p:sp>
    </p:spTree>
    <p:extLst>
      <p:ext uri="{BB962C8B-B14F-4D97-AF65-F5344CB8AC3E}">
        <p14:creationId xmlns:p14="http://schemas.microsoft.com/office/powerpoint/2010/main" val="958342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7"/>
          </a:xfrm>
        </p:spPr>
        <p:txBody>
          <a:bodyPr>
            <a:normAutofit/>
          </a:bodyPr>
          <a:lstStyle/>
          <a:p>
            <a:r>
              <a:rPr lang="en-IN" sz="4800" b="1"/>
              <a:t>System Overview</a:t>
            </a:r>
          </a:p>
        </p:txBody>
      </p:sp>
      <p:sp>
        <p:nvSpPr>
          <p:cNvPr id="5" name="Content Placeholder 4"/>
          <p:cNvSpPr>
            <a:spLocks noGrp="1"/>
          </p:cNvSpPr>
          <p:nvPr>
            <p:ph idx="1"/>
          </p:nvPr>
        </p:nvSpPr>
        <p:spPr/>
        <p:txBody>
          <a:bodyPr vert="horz" lIns="91440" tIns="45720" rIns="91440" bIns="45720" rtlCol="0" anchor="t">
            <a:normAutofit lnSpcReduction="10000"/>
          </a:bodyPr>
          <a:lstStyle/>
          <a:p>
            <a:pPr marL="0" indent="0">
              <a:buNone/>
            </a:pPr>
            <a:r>
              <a:rPr lang="en-US" sz="2000" b="1" dirty="0"/>
              <a:t>Low-power IoT node for continuous fruit ripeness monitoring via gas sensor analytics</a:t>
            </a:r>
          </a:p>
          <a:p>
            <a:pPr marL="228600" indent="-228600">
              <a:buChar char="•"/>
            </a:pPr>
            <a:r>
              <a:rPr lang="en-US" sz="1500" dirty="0"/>
              <a:t>Hardware: XIAO ESP32-S3 microcontroller</a:t>
            </a:r>
          </a:p>
          <a:p>
            <a:pPr marL="457200" indent="-228600">
              <a:buChar char="◦"/>
            </a:pPr>
            <a:r>
              <a:rPr lang="en-US" sz="1400" dirty="0"/>
              <a:t>Bosch BME680 sensor — Temperature / Humidity / Pressure / Gas Resistance</a:t>
            </a:r>
          </a:p>
          <a:p>
            <a:pPr marL="457200" indent="-228600">
              <a:buChar char="◦"/>
            </a:pPr>
            <a:r>
              <a:rPr lang="en-US" sz="1400" dirty="0"/>
              <a:t>I2C bus @ 100 kHz, SDA = GPIO5, SCL = GPIO6</a:t>
            </a:r>
          </a:p>
          <a:p>
            <a:pPr marL="457200" indent="-228600">
              <a:buChar char="◦"/>
            </a:pPr>
            <a:r>
              <a:rPr lang="en-US" sz="1400" dirty="0"/>
              <a:t>Li-ion powered, deep-sleep capable</a:t>
            </a:r>
          </a:p>
          <a:p>
            <a:pPr marL="228600" indent="-228600">
              <a:buChar char="•"/>
            </a:pPr>
            <a:r>
              <a:rPr lang="en-US" sz="1500" dirty="0"/>
              <a:t>Software Stack</a:t>
            </a:r>
          </a:p>
          <a:p>
            <a:pPr marL="457200" indent="-228600">
              <a:buChar char="◦"/>
            </a:pPr>
            <a:r>
              <a:rPr lang="en-US" sz="1400" dirty="0"/>
              <a:t>ESP-IDF + FreeRTOS firmware</a:t>
            </a:r>
          </a:p>
          <a:p>
            <a:pPr marL="457200" indent="-228600">
              <a:buChar char="◦"/>
            </a:pPr>
            <a:r>
              <a:rPr lang="en-US" sz="1400" dirty="0"/>
              <a:t>Bosch BME68x official sensor API</a:t>
            </a:r>
          </a:p>
          <a:p>
            <a:pPr marL="457200" indent="-228600">
              <a:buChar char="◦"/>
            </a:pPr>
            <a:r>
              <a:rPr lang="en-US" sz="1400" dirty="0"/>
              <a:t>WiFi STA + MQTT for data streaming, RTC memory for deep-sleep persistence</a:t>
            </a:r>
          </a:p>
          <a:p>
            <a:pPr marL="228600" indent="-228600">
              <a:buChar char="•"/>
            </a:pPr>
            <a:r>
              <a:rPr lang="en-US" sz="1500" dirty="0"/>
              <a:t>What It Does</a:t>
            </a:r>
          </a:p>
          <a:p>
            <a:pPr marL="457200" indent="-228600">
              <a:buChar char="◦"/>
            </a:pPr>
            <a:r>
              <a:rPr lang="en-US" sz="1400" dirty="0"/>
              <a:t>Wakes every 15 min, samples gas resistance, streams via MQTT</a:t>
            </a:r>
          </a:p>
          <a:p>
            <a:pPr marL="457200" indent="-228600">
              <a:buChar char="◦"/>
            </a:pPr>
            <a:r>
              <a:rPr lang="en-US" sz="1400" dirty="0"/>
              <a:t>Computes linear regression slope every 240 samples (~1 hour window)</a:t>
            </a:r>
          </a:p>
          <a:p>
            <a:pPr marL="457200" indent="-228600">
              <a:buChar char="◦"/>
            </a:pPr>
            <a:r>
              <a:rPr lang="en-US" sz="1400" dirty="0"/>
              <a:t>Classifies fruit state: EMPTY / FRESH / RIPENING / OVERRIPE</a:t>
            </a:r>
          </a:p>
          <a:p>
            <a:pPr marL="228600" indent="-228600">
              <a:buChar char="•"/>
            </a:pPr>
            <a:r>
              <a:rPr lang="en-US" sz="1500" dirty="0"/>
              <a:t>Key Specs: 1 Hz sampling rate, 240-sample window, 12-min deep sleep, 320°C heater 150 ms</a:t>
            </a:r>
          </a:p>
        </p:txBody>
      </p:sp>
      <p:pic>
        <p:nvPicPr>
          <p:cNvPr id="6" name="KLE Logo" title="KLE Logo.png"/>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Footer Bar"/>
          <p:cNvPicPr>
            <a:picLocks noChangeAspect="1"/>
          </p:cNvPicPr>
          <p:nvPr/>
        </p:nvPicPr>
        <p:blipFill>
          <a:blip r:embed="rId3"/>
          <a:stretch>
            <a:fillRect/>
          </a:stretch>
        </p:blipFill>
        <p:spPr>
          <a:xfrm>
            <a:off x="0" y="6341320"/>
            <a:ext cx="12192000" cy="5166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4C13D-D009-6595-BA29-70B3FE51A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2F2ED-8D89-BBC8-386E-3D881765BC1A}"/>
              </a:ext>
            </a:extLst>
          </p:cNvPr>
          <p:cNvSpPr>
            <a:spLocks noGrp="1"/>
          </p:cNvSpPr>
          <p:nvPr>
            <p:ph type="title"/>
          </p:nvPr>
        </p:nvSpPr>
        <p:spPr>
          <a:xfrm>
            <a:off x="838200" y="365125"/>
            <a:ext cx="10515600" cy="1006477"/>
          </a:xfrm>
        </p:spPr>
        <p:txBody>
          <a:bodyPr>
            <a:normAutofit/>
          </a:bodyPr>
          <a:lstStyle/>
          <a:p>
            <a:r>
              <a:rPr lang="en-IN" sz="4800" b="1"/>
              <a:t>Power Architecture</a:t>
            </a:r>
          </a:p>
        </p:txBody>
      </p:sp>
      <p:pic>
        <p:nvPicPr>
          <p:cNvPr id="6" name="Google Shape;89;p13" title="KLE Logo.png">
            <a:extLst>
              <a:ext uri="{FF2B5EF4-FFF2-40B4-BE49-F238E27FC236}">
                <a16:creationId xmlns:a16="http://schemas.microsoft.com/office/drawing/2014/main" id="{088AE559-DAE4-219D-73D7-03E97AB1D882}"/>
              </a:ext>
            </a:extLst>
          </p:cNvPr>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Picture 7">
            <a:extLst>
              <a:ext uri="{FF2B5EF4-FFF2-40B4-BE49-F238E27FC236}">
                <a16:creationId xmlns:a16="http://schemas.microsoft.com/office/drawing/2014/main" id="{405D98AA-0A00-BAE1-3B87-A110430CA9AE}"/>
              </a:ext>
            </a:extLst>
          </p:cNvPr>
          <p:cNvPicPr>
            <a:picLocks noChangeAspect="1"/>
          </p:cNvPicPr>
          <p:nvPr/>
        </p:nvPicPr>
        <p:blipFill>
          <a:blip r:embed="rId3"/>
          <a:stretch>
            <a:fillRect/>
          </a:stretch>
        </p:blipFill>
        <p:spPr>
          <a:xfrm>
            <a:off x="0" y="6341320"/>
            <a:ext cx="12192000" cy="516680"/>
          </a:xfrm>
          <a:prstGeom prst="rect">
            <a:avLst/>
          </a:prstGeom>
        </p:spPr>
      </p:pic>
      <p:cxnSp>
        <p:nvCxnSpPr>
          <p:cNvPr id="9" name="Straight Connector 8">
            <a:extLst>
              <a:ext uri="{FF2B5EF4-FFF2-40B4-BE49-F238E27FC236}">
                <a16:creationId xmlns:a16="http://schemas.microsoft.com/office/drawing/2014/main" id="{2CD08D0D-A531-C6B8-E467-EC692DAE9FE5}"/>
              </a:ext>
            </a:extLst>
          </p:cNvPr>
          <p:cNvCxnSpPr/>
          <p:nvPr/>
        </p:nvCxnSpPr>
        <p:spPr>
          <a:xfrm flipV="1">
            <a:off x="299258" y="1446415"/>
            <a:ext cx="11238807" cy="74814"/>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Content Placeholder 3">
            <a:extLst>
              <a:ext uri="{FF2B5EF4-FFF2-40B4-BE49-F238E27FC236}">
                <a16:creationId xmlns:a16="http://schemas.microsoft.com/office/drawing/2014/main" id="{A316668C-865B-296C-4EC9-E73CCB0D0211}"/>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l="28674" t="11053" r="27325" b="2137"/>
          <a:stretch>
            <a:fillRect/>
          </a:stretch>
        </p:blipFill>
        <p:spPr>
          <a:xfrm>
            <a:off x="3465968" y="1521229"/>
            <a:ext cx="5260063" cy="4837335"/>
          </a:xfrm>
          <a:prstGeom prst="rect">
            <a:avLst/>
          </a:prstGeom>
        </p:spPr>
      </p:pic>
    </p:spTree>
    <p:extLst>
      <p:ext uri="{BB962C8B-B14F-4D97-AF65-F5344CB8AC3E}">
        <p14:creationId xmlns:p14="http://schemas.microsoft.com/office/powerpoint/2010/main" val="799765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7"/>
          </a:xfrm>
        </p:spPr>
        <p:txBody>
          <a:bodyPr>
            <a:normAutofit/>
          </a:bodyPr>
          <a:lstStyle/>
          <a:p>
            <a:r>
              <a:rPr lang="en-IN" sz="4800" b="1"/>
              <a:t>System Configuration Parameters</a:t>
            </a:r>
          </a:p>
        </p:txBody>
      </p:sp>
      <p:sp>
        <p:nvSpPr>
          <p:cNvPr id="5" name="Content Placeholder 4"/>
          <p:cNvSpPr>
            <a:spLocks noGrp="1"/>
          </p:cNvSpPr>
          <p:nvPr>
            <p:ph idx="1"/>
          </p:nvPr>
        </p:nvSpPr>
        <p:spPr/>
        <p:txBody>
          <a:bodyPr vert="horz" lIns="91440" tIns="45720" rIns="91440" bIns="45720" rtlCol="0" anchor="t">
            <a:normAutofit fontScale="92500" lnSpcReduction="20000"/>
          </a:bodyPr>
          <a:lstStyle/>
          <a:p>
            <a:pPr marL="0" indent="0">
              <a:buNone/>
            </a:pPr>
            <a:r>
              <a:rPr lang="en-US" sz="2000" b="1" dirty="0"/>
              <a:t>I2C &amp; Hardware</a:t>
            </a:r>
          </a:p>
          <a:p>
            <a:pPr marL="228600" indent="-228600">
              <a:buChar char="•"/>
            </a:pPr>
            <a:r>
              <a:rPr lang="en-US" sz="1500" dirty="0"/>
              <a:t>SDA_PIN = 5, SCL_PIN = 6, I2C_FREQ_HZ = 100,000</a:t>
            </a:r>
          </a:p>
          <a:p>
            <a:pPr marL="228600" indent="-228600">
              <a:buChar char="•"/>
            </a:pPr>
            <a:r>
              <a:rPr lang="en-US" sz="1500" dirty="0"/>
              <a:t>BME_ADDR = 0x76, HEATER_TEMP_C = 320, HEATER_DUR_MS = 150</a:t>
            </a:r>
          </a:p>
          <a:p>
            <a:pPr marL="0" indent="0">
              <a:buNone/>
            </a:pPr>
            <a:r>
              <a:rPr lang="en-US" sz="2000" b="1" dirty="0"/>
              <a:t>Timing &amp; Sampling</a:t>
            </a:r>
          </a:p>
          <a:p>
            <a:pPr marL="228600" indent="-228600">
              <a:buChar char="•"/>
            </a:pPr>
            <a:r>
              <a:rPr lang="en-US" sz="1500" dirty="0"/>
              <a:t>WARMUP_MS = 120,000 (2 min), SAMPLE_RATE_HZ = 1</a:t>
            </a:r>
          </a:p>
          <a:p>
            <a:pPr marL="228600" indent="-228600">
              <a:buChar char="•"/>
            </a:pPr>
            <a:r>
              <a:rPr lang="en-US" sz="1500" dirty="0"/>
              <a:t>SAMPLES_PER_BOOT = 60, RING_BUFFER_SIZE = 240</a:t>
            </a:r>
          </a:p>
          <a:p>
            <a:pPr marL="228600" indent="-228600">
              <a:buChar char="•"/>
            </a:pPr>
            <a:r>
              <a:rPr lang="en-US" sz="1500" dirty="0"/>
              <a:t>SLEEP_DURATION_US = 720,000,000 (12 min)</a:t>
            </a:r>
          </a:p>
          <a:p>
            <a:pPr marL="0" indent="0">
              <a:buNone/>
            </a:pPr>
            <a:r>
              <a:rPr lang="en-US" sz="2000" b="1" dirty="0"/>
              <a:t>MQTT &amp; Network</a:t>
            </a:r>
          </a:p>
          <a:p>
            <a:pPr marL="228600" indent="-228600">
              <a:buChar char="•"/>
            </a:pPr>
            <a:r>
              <a:rPr lang="en-US" sz="1500" dirty="0"/>
              <a:t>Broker: mqtt://broker.emqx.io:1883, QoS = 1, Retain = 0</a:t>
            </a:r>
          </a:p>
          <a:p>
            <a:pPr marL="228600" indent="-228600">
              <a:buChar char="•"/>
            </a:pPr>
            <a:r>
              <a:rPr lang="en-US" sz="1500" dirty="0"/>
              <a:t>Topic data: bme680/data (every valid sample)</a:t>
            </a:r>
          </a:p>
          <a:p>
            <a:pPr marL="228600" indent="-228600">
              <a:buChar char="•"/>
            </a:pPr>
            <a:r>
              <a:rPr lang="en-US" sz="1500" dirty="0"/>
              <a:t>Topic decision: bme680/decision (every 240 samples ≈ 1 hour)</a:t>
            </a:r>
          </a:p>
          <a:p>
            <a:pPr marL="0" indent="0">
              <a:buNone/>
            </a:pPr>
            <a:r>
              <a:rPr lang="en-US" sz="2000" b="1" dirty="0"/>
              <a:t>Memory Layout</a:t>
            </a:r>
          </a:p>
          <a:p>
            <a:pPr marL="228600" indent="-228600">
              <a:buChar char="•"/>
            </a:pPr>
            <a:r>
              <a:rPr lang="en-US" sz="1500" dirty="0"/>
              <a:t>sample_t size: 20 bytes; full ring buffer: 4,800 bytes in RTC memory</a:t>
            </a:r>
          </a:p>
          <a:p>
            <a:pPr marL="228600" indent="-228600">
              <a:buChar char="•"/>
            </a:pPr>
            <a:r>
              <a:rPr lang="en-US" sz="1500" dirty="0"/>
              <a:t>Decision window: 4 boots × 60 samples = 240 samples ≈ 1 hour of data</a:t>
            </a:r>
          </a:p>
        </p:txBody>
      </p:sp>
      <p:pic>
        <p:nvPicPr>
          <p:cNvPr id="6" name="KLE Logo" title="KLE Logo.png"/>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Footer Bar"/>
          <p:cNvPicPr>
            <a:picLocks noChangeAspect="1"/>
          </p:cNvPicPr>
          <p:nvPr/>
        </p:nvPicPr>
        <p:blipFill>
          <a:blip r:embed="rId3"/>
          <a:stretch>
            <a:fillRect/>
          </a:stretch>
        </p:blipFill>
        <p:spPr>
          <a:xfrm>
            <a:off x="0" y="6341320"/>
            <a:ext cx="12192000" cy="5166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FA817-5B14-F595-109E-2C796E62F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ACA09-C80B-5670-4C2C-051889726B61}"/>
              </a:ext>
            </a:extLst>
          </p:cNvPr>
          <p:cNvSpPr>
            <a:spLocks noGrp="1"/>
          </p:cNvSpPr>
          <p:nvPr>
            <p:ph type="title"/>
          </p:nvPr>
        </p:nvSpPr>
        <p:spPr>
          <a:xfrm>
            <a:off x="838200" y="365125"/>
            <a:ext cx="10515600" cy="1006477"/>
          </a:xfrm>
        </p:spPr>
        <p:txBody>
          <a:bodyPr>
            <a:normAutofit/>
          </a:bodyPr>
          <a:lstStyle/>
          <a:p>
            <a:r>
              <a:rPr lang="en-IN" sz="4800" b="1"/>
              <a:t>Architecture</a:t>
            </a:r>
          </a:p>
        </p:txBody>
      </p:sp>
      <p:pic>
        <p:nvPicPr>
          <p:cNvPr id="6" name="Google Shape;89;p13" title="KLE Logo.png">
            <a:extLst>
              <a:ext uri="{FF2B5EF4-FFF2-40B4-BE49-F238E27FC236}">
                <a16:creationId xmlns:a16="http://schemas.microsoft.com/office/drawing/2014/main" id="{B79DE82C-56D2-4809-2BBF-3800B99D51AA}"/>
              </a:ext>
            </a:extLst>
          </p:cNvPr>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Picture 7">
            <a:extLst>
              <a:ext uri="{FF2B5EF4-FFF2-40B4-BE49-F238E27FC236}">
                <a16:creationId xmlns:a16="http://schemas.microsoft.com/office/drawing/2014/main" id="{9BAB647C-85FE-A5BC-87DD-AFC75E085F58}"/>
              </a:ext>
            </a:extLst>
          </p:cNvPr>
          <p:cNvPicPr>
            <a:picLocks noChangeAspect="1"/>
          </p:cNvPicPr>
          <p:nvPr/>
        </p:nvPicPr>
        <p:blipFill>
          <a:blip r:embed="rId3"/>
          <a:stretch>
            <a:fillRect/>
          </a:stretch>
        </p:blipFill>
        <p:spPr>
          <a:xfrm>
            <a:off x="0" y="6341320"/>
            <a:ext cx="12192000" cy="516680"/>
          </a:xfrm>
          <a:prstGeom prst="rect">
            <a:avLst/>
          </a:prstGeom>
        </p:spPr>
      </p:pic>
      <p:cxnSp>
        <p:nvCxnSpPr>
          <p:cNvPr id="9" name="Straight Connector 8">
            <a:extLst>
              <a:ext uri="{FF2B5EF4-FFF2-40B4-BE49-F238E27FC236}">
                <a16:creationId xmlns:a16="http://schemas.microsoft.com/office/drawing/2014/main" id="{7BEC431B-9DBC-9118-AC6B-D1DDA4764166}"/>
              </a:ext>
            </a:extLst>
          </p:cNvPr>
          <p:cNvCxnSpPr/>
          <p:nvPr/>
        </p:nvCxnSpPr>
        <p:spPr>
          <a:xfrm flipV="1">
            <a:off x="299258" y="1446415"/>
            <a:ext cx="11238807" cy="74814"/>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Content Placeholder 3">
            <a:extLst>
              <a:ext uri="{FF2B5EF4-FFF2-40B4-BE49-F238E27FC236}">
                <a16:creationId xmlns:a16="http://schemas.microsoft.com/office/drawing/2014/main" id="{6F2847E2-FE01-F3C0-10BF-E64BC31F9DF1}"/>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480931" y="1521229"/>
            <a:ext cx="7230138" cy="4820091"/>
          </a:xfrm>
          <a:prstGeom prst="rect">
            <a:avLst/>
          </a:prstGeom>
        </p:spPr>
      </p:pic>
    </p:spTree>
    <p:extLst>
      <p:ext uri="{BB962C8B-B14F-4D97-AF65-F5344CB8AC3E}">
        <p14:creationId xmlns:p14="http://schemas.microsoft.com/office/powerpoint/2010/main" val="3195897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7"/>
          </a:xfrm>
        </p:spPr>
        <p:txBody>
          <a:bodyPr>
            <a:normAutofit/>
          </a:bodyPr>
          <a:lstStyle/>
          <a:p>
            <a:r>
              <a:rPr lang="en-IN" sz="4800" b="1"/>
              <a:t>Sensor &amp; Hardware Drivers</a:t>
            </a:r>
          </a:p>
        </p:txBody>
      </p:sp>
      <p:sp>
        <p:nvSpPr>
          <p:cNvPr id="5" name="Content Placeholder 4"/>
          <p:cNvSpPr>
            <a:spLocks noGrp="1"/>
          </p:cNvSpPr>
          <p:nvPr>
            <p:ph idx="1"/>
          </p:nvPr>
        </p:nvSpPr>
        <p:spPr/>
        <p:txBody>
          <a:bodyPr vert="horz" lIns="91440" tIns="45720" rIns="91440" bIns="45720" rtlCol="0" anchor="t">
            <a:normAutofit fontScale="92500" lnSpcReduction="10000"/>
          </a:bodyPr>
          <a:lstStyle/>
          <a:p>
            <a:pPr marL="0" indent="0">
              <a:buNone/>
            </a:pPr>
            <a:r>
              <a:rPr lang="en-US" sz="2000" b="1" dirty="0"/>
              <a:t>I2C Master Driver</a:t>
            </a:r>
          </a:p>
          <a:p>
            <a:pPr marL="228600" indent="-228600">
              <a:buChar char="•"/>
            </a:pPr>
            <a:r>
              <a:rPr lang="en-US" sz="1500" dirty="0"/>
              <a:t>ESP-IDF I2C_NUM_0 master bus: SDA=GPIO5, SCL=GPIO6 @ 100 kHz</a:t>
            </a:r>
          </a:p>
          <a:p>
            <a:pPr marL="228600" indent="-228600">
              <a:buChar char="•"/>
            </a:pPr>
            <a:r>
              <a:rPr lang="en-US" sz="1500" dirty="0"/>
              <a:t>BME680 address: 0x76 (SDO tied to GND), 7-bit; internal pull-ups enabled</a:t>
            </a:r>
          </a:p>
          <a:p>
            <a:pPr marL="228600" indent="-228600">
              <a:buChar char="•"/>
            </a:pPr>
            <a:r>
              <a:rPr lang="en-US" sz="1500" dirty="0"/>
              <a:t>Custom bme_i2c_read() / bme_i2c_write() wired to Bosch API callbacks</a:t>
            </a:r>
          </a:p>
          <a:p>
            <a:pPr marL="0" indent="0">
              <a:buNone/>
            </a:pPr>
            <a:r>
              <a:rPr lang="en-US" sz="2000" b="1" dirty="0"/>
              <a:t>Bosch BME68x API Initialization</a:t>
            </a:r>
          </a:p>
          <a:p>
            <a:pPr marL="228600" indent="-228600">
              <a:buChar char="•"/>
            </a:pPr>
            <a:r>
              <a:rPr lang="en-US" sz="1500" dirty="0"/>
              <a:t>bme68x_init() — reads chip ID, loads calibration data</a:t>
            </a:r>
          </a:p>
          <a:p>
            <a:pPr marL="228600" indent="-228600">
              <a:buChar char="•"/>
            </a:pPr>
            <a:r>
              <a:rPr lang="en-US" sz="1500" dirty="0"/>
              <a:t>bme68x_set_conf() — oversampling: T×2, P×1, H×1; IIR filter coeff=3</a:t>
            </a:r>
          </a:p>
          <a:p>
            <a:pPr marL="228600" indent="-228600">
              <a:buChar char="•"/>
            </a:pPr>
            <a:r>
              <a:rPr lang="en-US" sz="1500" dirty="0"/>
              <a:t>bme68x_set_heatr_conf() — 320°C, 150 ms, forced mode</a:t>
            </a:r>
          </a:p>
          <a:p>
            <a:pPr marL="228600" indent="-228600">
              <a:buChar char="•"/>
            </a:pPr>
            <a:r>
              <a:rPr lang="en-US" sz="1500" dirty="0"/>
              <a:t>bme68x_get_data() — returns status: new_data, gas_valid, heat_stable</a:t>
            </a:r>
          </a:p>
          <a:p>
            <a:pPr marL="0" indent="0">
              <a:buNone/>
            </a:pPr>
            <a:r>
              <a:rPr lang="en-US" sz="2000" b="1" dirty="0"/>
              <a:t>Timer &amp; Sync Driver</a:t>
            </a:r>
          </a:p>
          <a:p>
            <a:pPr marL="228600" indent="-228600">
              <a:buChar char="•"/>
            </a:pPr>
            <a:r>
              <a:rPr lang="en-US" sz="1500" dirty="0"/>
              <a:t>esp_timer generates 1 Hz periodic interrupt callback</a:t>
            </a:r>
          </a:p>
          <a:p>
            <a:pPr marL="228600" indent="-228600">
              <a:buChar char="•"/>
            </a:pPr>
            <a:r>
              <a:rPr lang="en-US" sz="1500" dirty="0"/>
              <a:t>ISR calls xSemaphoreGiveFromISR() — fully ISR-safe design</a:t>
            </a:r>
          </a:p>
          <a:p>
            <a:pPr marL="228600" indent="-228600">
              <a:buChar char="•"/>
            </a:pPr>
            <a:r>
              <a:rPr lang="en-US" sz="1500" dirty="0"/>
              <a:t>Main FreeRTOS task blocks on xSemaphoreTake() before each read</a:t>
            </a:r>
          </a:p>
          <a:p>
            <a:pPr marL="228600" indent="-228600">
              <a:buChar char="•"/>
            </a:pPr>
            <a:r>
              <a:rPr lang="en-US" sz="1500" dirty="0"/>
              <a:t>Forced mode: single T/H/P/G measurement per trigger, sensor sleeps between reads</a:t>
            </a:r>
          </a:p>
        </p:txBody>
      </p:sp>
      <p:pic>
        <p:nvPicPr>
          <p:cNvPr id="6" name="KLE Logo" title="KLE Logo.png"/>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Footer Bar"/>
          <p:cNvPicPr>
            <a:picLocks noChangeAspect="1"/>
          </p:cNvPicPr>
          <p:nvPr/>
        </p:nvPicPr>
        <p:blipFill>
          <a:blip r:embed="rId3"/>
          <a:stretch>
            <a:fillRect/>
          </a:stretch>
        </p:blipFill>
        <p:spPr>
          <a:xfrm>
            <a:off x="0" y="6341320"/>
            <a:ext cx="12192000" cy="516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7"/>
          </a:xfrm>
        </p:spPr>
        <p:txBody>
          <a:bodyPr>
            <a:normAutofit/>
          </a:bodyPr>
          <a:lstStyle/>
          <a:p>
            <a:r>
              <a:rPr lang="en-IN" sz="4800" b="1"/>
              <a:t>Data Structures &amp; Ring Buffer</a:t>
            </a:r>
          </a:p>
        </p:txBody>
      </p:sp>
      <p:sp>
        <p:nvSpPr>
          <p:cNvPr id="5" name="Content Placeholder 4"/>
          <p:cNvSpPr>
            <a:spLocks noGrp="1"/>
          </p:cNvSpPr>
          <p:nvPr>
            <p:ph idx="1"/>
          </p:nvPr>
        </p:nvSpPr>
        <p:spPr/>
        <p:txBody>
          <a:bodyPr vert="horz" lIns="91440" tIns="45720" rIns="91440" bIns="45720" rtlCol="0" anchor="t">
            <a:normAutofit lnSpcReduction="10000"/>
          </a:bodyPr>
          <a:lstStyle/>
          <a:p>
            <a:pPr marL="0" indent="0">
              <a:buNone/>
            </a:pPr>
            <a:r>
              <a:rPr lang="en-US" sz="2000" b="1" dirty="0"/>
              <a:t>C Struct: sample_t (20 bytes per node)</a:t>
            </a:r>
          </a:p>
          <a:p>
            <a:pPr marL="228600" indent="-228600">
              <a:buChar char="•"/>
            </a:pPr>
            <a:r>
              <a:rPr lang="en-US" sz="1500" dirty="0"/>
              <a:t>Fields: timestamp (uint32, 4B), temperature (float, 4B), humidity (float, 4B), pressure (float, 4B), gas_resistance (float, 4B)</a:t>
            </a:r>
          </a:p>
          <a:p>
            <a:pPr marL="228600" indent="-228600">
              <a:buChar char="•"/>
            </a:pPr>
            <a:r>
              <a:rPr lang="en-US" sz="1500" dirty="0"/>
              <a:t>Ring buffer holds 240 nodes = 4,800 bytes stored in RTC memory</a:t>
            </a:r>
          </a:p>
          <a:p>
            <a:pPr marL="0" indent="0">
              <a:buNone/>
            </a:pPr>
            <a:r>
              <a:rPr lang="en-US" sz="2000" b="1" dirty="0"/>
              <a:t>RTC_DATA_ATTR Variables (survive deep sleep)</a:t>
            </a:r>
          </a:p>
          <a:p>
            <a:pPr marL="228600" indent="-228600">
              <a:buChar char="•"/>
            </a:pPr>
            <a:r>
              <a:rPr lang="en-US" sz="1500" dirty="0"/>
              <a:t>sample_buffer[240] — array of sample_t</a:t>
            </a:r>
          </a:p>
          <a:p>
            <a:pPr marL="228600" indent="-228600">
              <a:buChar char="•"/>
            </a:pPr>
            <a:r>
              <a:rPr lang="en-US" sz="1500" dirty="0"/>
              <a:t>head — index of oldest sample; tail — index of next write</a:t>
            </a:r>
          </a:p>
          <a:p>
            <a:pPr marL="228600" indent="-228600">
              <a:buChar char="•"/>
            </a:pPr>
            <a:r>
              <a:rPr lang="en-US" sz="1500" dirty="0"/>
              <a:t>count — valid samples in buffer (≤240); sample_count — total ever collected (never reset)</a:t>
            </a:r>
          </a:p>
          <a:p>
            <a:pPr marL="228600" indent="-228600">
              <a:buChar char="•"/>
            </a:pPr>
            <a:r>
              <a:rPr lang="en-US" sz="1500" dirty="0"/>
              <a:t>elapsed_seconds — monotonic timestamp across wake cycles</a:t>
            </a:r>
          </a:p>
          <a:p>
            <a:pPr marL="228600" indent="-228600">
              <a:buChar char="•"/>
            </a:pPr>
            <a:r>
              <a:rPr lang="en-US" sz="1500" dirty="0"/>
              <a:t>boot_count, decision_counter — boot and decision tracking</a:t>
            </a:r>
          </a:p>
          <a:p>
            <a:pPr marL="0" indent="0">
              <a:buNone/>
            </a:pPr>
            <a:r>
              <a:rPr lang="en-US" sz="2000" b="1" dirty="0"/>
              <a:t>Key Ring Buffer Properties</a:t>
            </a:r>
          </a:p>
          <a:p>
            <a:pPr marL="228600" indent="-228600">
              <a:buChar char="•"/>
            </a:pPr>
            <a:r>
              <a:rPr lang="en-US" sz="1500" dirty="0"/>
              <a:t>Fixed size 240 → always holds last ~1 hour of data</a:t>
            </a:r>
          </a:p>
          <a:p>
            <a:pPr marL="228600" indent="-228600">
              <a:buChar char="•"/>
            </a:pPr>
            <a:r>
              <a:rPr lang="en-US" sz="1500" dirty="0"/>
              <a:t>O(1) insert and oldest-drop; head-to-tail traversal gives time-ordered samples</a:t>
            </a:r>
          </a:p>
          <a:p>
            <a:pPr marL="228600" indent="-228600">
              <a:buChar char="•"/>
            </a:pPr>
            <a:r>
              <a:rPr lang="en-US" sz="1500" dirty="0"/>
              <a:t>4 boots × 60 samples/boot = 240 samples → triggers one decision window</a:t>
            </a:r>
          </a:p>
        </p:txBody>
      </p:sp>
      <p:pic>
        <p:nvPicPr>
          <p:cNvPr id="6" name="KLE Logo" title="KLE Logo.png"/>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Footer Bar"/>
          <p:cNvPicPr>
            <a:picLocks noChangeAspect="1"/>
          </p:cNvPicPr>
          <p:nvPr/>
        </p:nvPicPr>
        <p:blipFill>
          <a:blip r:embed="rId3"/>
          <a:stretch>
            <a:fillRect/>
          </a:stretch>
        </p:blipFill>
        <p:spPr>
          <a:xfrm>
            <a:off x="0" y="6341320"/>
            <a:ext cx="12192000" cy="516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636A6-46E8-9E89-851E-F2CDF0A6F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3A105-1A9A-A678-706F-2E5651E34182}"/>
              </a:ext>
            </a:extLst>
          </p:cNvPr>
          <p:cNvSpPr>
            <a:spLocks noGrp="1"/>
          </p:cNvSpPr>
          <p:nvPr>
            <p:ph type="title"/>
          </p:nvPr>
        </p:nvSpPr>
        <p:spPr>
          <a:xfrm>
            <a:off x="493734" y="354687"/>
            <a:ext cx="10515600" cy="1006477"/>
          </a:xfrm>
        </p:spPr>
        <p:txBody>
          <a:bodyPr>
            <a:normAutofit/>
          </a:bodyPr>
          <a:lstStyle/>
          <a:p>
            <a:r>
              <a:rPr lang="en-IN" sz="4800" b="1">
                <a:ea typeface="Calibri Light"/>
                <a:cs typeface="Calibri Light"/>
              </a:rPr>
              <a:t>Ring Buffer Implementation</a:t>
            </a:r>
            <a:endParaRPr lang="en-IN" sz="4800" b="1" dirty="0">
              <a:ea typeface="Calibri Light"/>
              <a:cs typeface="Calibri Light"/>
            </a:endParaRPr>
          </a:p>
        </p:txBody>
      </p:sp>
      <p:pic>
        <p:nvPicPr>
          <p:cNvPr id="6" name="Google Shape;89;p13" title="KLE Logo.png">
            <a:extLst>
              <a:ext uri="{FF2B5EF4-FFF2-40B4-BE49-F238E27FC236}">
                <a16:creationId xmlns:a16="http://schemas.microsoft.com/office/drawing/2014/main" id="{626A07C5-666D-4548-55FD-AC5B574971FF}"/>
              </a:ext>
            </a:extLst>
          </p:cNvPr>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Picture 7">
            <a:extLst>
              <a:ext uri="{FF2B5EF4-FFF2-40B4-BE49-F238E27FC236}">
                <a16:creationId xmlns:a16="http://schemas.microsoft.com/office/drawing/2014/main" id="{BD6C7008-3B44-2E8A-3152-C6668057F006}"/>
              </a:ext>
            </a:extLst>
          </p:cNvPr>
          <p:cNvPicPr>
            <a:picLocks noChangeAspect="1"/>
          </p:cNvPicPr>
          <p:nvPr/>
        </p:nvPicPr>
        <p:blipFill>
          <a:blip r:embed="rId3"/>
          <a:stretch>
            <a:fillRect/>
          </a:stretch>
        </p:blipFill>
        <p:spPr>
          <a:xfrm>
            <a:off x="0" y="6341320"/>
            <a:ext cx="12192000" cy="516680"/>
          </a:xfrm>
          <a:prstGeom prst="rect">
            <a:avLst/>
          </a:prstGeom>
        </p:spPr>
      </p:pic>
      <p:cxnSp>
        <p:nvCxnSpPr>
          <p:cNvPr id="9" name="Straight Connector 8">
            <a:extLst>
              <a:ext uri="{FF2B5EF4-FFF2-40B4-BE49-F238E27FC236}">
                <a16:creationId xmlns:a16="http://schemas.microsoft.com/office/drawing/2014/main" id="{D8C89753-6DB7-E460-77EF-5F67FF4C56B2}"/>
              </a:ext>
            </a:extLst>
          </p:cNvPr>
          <p:cNvCxnSpPr>
            <a:cxnSpLocks/>
          </p:cNvCxnSpPr>
          <p:nvPr/>
        </p:nvCxnSpPr>
        <p:spPr>
          <a:xfrm>
            <a:off x="492939" y="1362908"/>
            <a:ext cx="1121214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Content Placeholder 3">
            <a:extLst>
              <a:ext uri="{FF2B5EF4-FFF2-40B4-BE49-F238E27FC236}">
                <a16:creationId xmlns:a16="http://schemas.microsoft.com/office/drawing/2014/main" id="{4B30E5D6-48E3-DE5F-F8EB-6C5062E1EEA5}"/>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491979" y="1535959"/>
            <a:ext cx="7208041" cy="4805361"/>
          </a:xfrm>
          <a:prstGeom prst="rect">
            <a:avLst/>
          </a:prstGeom>
        </p:spPr>
      </p:pic>
    </p:spTree>
    <p:extLst>
      <p:ext uri="{BB962C8B-B14F-4D97-AF65-F5344CB8AC3E}">
        <p14:creationId xmlns:p14="http://schemas.microsoft.com/office/powerpoint/2010/main" val="1213375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7"/>
          </a:xfrm>
        </p:spPr>
        <p:txBody>
          <a:bodyPr>
            <a:normAutofit/>
          </a:bodyPr>
          <a:lstStyle/>
          <a:p>
            <a:r>
              <a:rPr lang="en-IN" sz="4800" b="1"/>
              <a:t>Algorithm Flow — Per Boot Cycle</a:t>
            </a:r>
          </a:p>
        </p:txBody>
      </p:sp>
      <p:sp>
        <p:nvSpPr>
          <p:cNvPr id="5" name="Content Placeholder 4"/>
          <p:cNvSpPr>
            <a:spLocks noGrp="1"/>
          </p:cNvSpPr>
          <p:nvPr>
            <p:ph idx="1"/>
          </p:nvPr>
        </p:nvSpPr>
        <p:spPr>
          <a:xfrm>
            <a:off x="267929" y="1579819"/>
            <a:ext cx="7116097" cy="4351338"/>
          </a:xfrm>
        </p:spPr>
        <p:txBody>
          <a:bodyPr vert="horz" lIns="91440" tIns="45720" rIns="91440" bIns="45720" rtlCol="0" anchor="t">
            <a:normAutofit fontScale="92500" lnSpcReduction="20000"/>
          </a:bodyPr>
          <a:lstStyle/>
          <a:p>
            <a:pPr marL="0" indent="0">
              <a:buNone/>
            </a:pPr>
            <a:r>
              <a:rPr lang="en-US" sz="2000" b="1" dirty="0"/>
              <a:t>Step 1: Boot &amp; Initialize</a:t>
            </a:r>
          </a:p>
          <a:p>
            <a:pPr marL="228600" indent="-228600">
              <a:buChar char="•"/>
            </a:pPr>
            <a:r>
              <a:rPr lang="en-US" sz="1500" dirty="0"/>
              <a:t>Increment boot_count; add 12-min sleep to elapsed_seconds if boot &gt; 1</a:t>
            </a:r>
          </a:p>
          <a:p>
            <a:pPr marL="228600" indent="-228600">
              <a:buChar char="•"/>
            </a:pPr>
            <a:r>
              <a:rPr lang="en-US" sz="1500" dirty="0"/>
              <a:t>Init WiFi (STA) → wait for IP → Init MQTT → wait 2 s → Init I2C + BME680</a:t>
            </a:r>
          </a:p>
          <a:p>
            <a:pPr marL="0" indent="0">
              <a:buNone/>
            </a:pPr>
            <a:r>
              <a:rPr lang="en-US" sz="2000" b="1" dirty="0"/>
              <a:t>Step 2: Warm-up Phase — 2 minutes</a:t>
            </a:r>
          </a:p>
          <a:p>
            <a:pPr marL="228600" indent="-228600">
              <a:buChar char="•"/>
            </a:pPr>
            <a:r>
              <a:rPr lang="en-US" sz="1500" dirty="0"/>
              <a:t>Run BME680 in forced mode at 1 Hz; discard all readings</a:t>
            </a:r>
          </a:p>
          <a:p>
            <a:pPr marL="228600" indent="-228600">
              <a:buChar char="•"/>
            </a:pPr>
            <a:r>
              <a:rPr lang="en-US" sz="1500" dirty="0"/>
              <a:t>Purpose: thermal stabilization of the MOX gas sensor for repeatable resistance values</a:t>
            </a:r>
          </a:p>
          <a:p>
            <a:pPr marL="0" indent="0">
              <a:buNone/>
            </a:pPr>
            <a:r>
              <a:rPr lang="en-US" sz="2000" b="1" dirty="0"/>
              <a:t>Step 3: Sampling Phase — 60 valid samples @ 1 Hz</a:t>
            </a:r>
          </a:p>
          <a:p>
            <a:pPr marL="228600" indent="-228600">
              <a:buChar char="•"/>
            </a:pPr>
            <a:r>
              <a:rPr lang="en-US" sz="1500" dirty="0"/>
              <a:t>Block on semaphore → forced-mode measurement → reject if !heat_stable || !gas_valid</a:t>
            </a:r>
          </a:p>
          <a:p>
            <a:pPr marL="228600" indent="-228600">
              <a:buChar char="•"/>
            </a:pPr>
            <a:r>
              <a:rPr lang="en-US" sz="1500" dirty="0"/>
              <a:t>Build sample_t → push to ring buffer → publish JSON to bme680/data</a:t>
            </a:r>
          </a:p>
          <a:p>
            <a:pPr marL="228600" indent="-228600">
              <a:buChar char="•"/>
            </a:pPr>
            <a:r>
              <a:rPr lang="en-US" sz="1500" dirty="0"/>
              <a:t>If sample_count % 240 == 0: compute slope + classify + publish to bme680/decision</a:t>
            </a:r>
          </a:p>
          <a:p>
            <a:pPr marL="0" indent="0">
              <a:buNone/>
            </a:pPr>
            <a:r>
              <a:rPr lang="en-US" sz="2000" b="1" dirty="0"/>
              <a:t>Step 4: Deep Sleep — 12 minutes</a:t>
            </a:r>
          </a:p>
          <a:p>
            <a:pPr marL="228600" indent="-228600">
              <a:buChar char="•"/>
            </a:pPr>
            <a:r>
              <a:rPr lang="en-US" sz="1500" dirty="0"/>
              <a:t>Put BME680 to sleep mode (mode=00)</a:t>
            </a:r>
          </a:p>
          <a:p>
            <a:pPr marL="228600" indent="-228600">
              <a:buChar char="•"/>
            </a:pPr>
            <a:r>
              <a:rPr lang="en-US" sz="1500" dirty="0"/>
              <a:t>Configure RTC timer wakeup: SLEEP_DURATION_US = 720,000,000 µs</a:t>
            </a:r>
          </a:p>
          <a:p>
            <a:pPr marL="228600" indent="-228600">
              <a:buChar char="•"/>
            </a:pPr>
            <a:r>
              <a:rPr lang="en-US" sz="1500" dirty="0"/>
              <a:t>Call esp_deep_sleep_start(); MCU resets on wake, RTC variables persist</a:t>
            </a:r>
          </a:p>
        </p:txBody>
      </p:sp>
      <p:pic>
        <p:nvPicPr>
          <p:cNvPr id="6" name="KLE Logo" title="KLE Logo.png"/>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Footer Bar"/>
          <p:cNvPicPr>
            <a:picLocks noChangeAspect="1"/>
          </p:cNvPicPr>
          <p:nvPr/>
        </p:nvPicPr>
        <p:blipFill>
          <a:blip r:embed="rId3"/>
          <a:stretch>
            <a:fillRect/>
          </a:stretch>
        </p:blipFill>
        <p:spPr>
          <a:xfrm>
            <a:off x="0" y="6341320"/>
            <a:ext cx="12192000" cy="516680"/>
          </a:xfrm>
          <a:prstGeom prst="rect">
            <a:avLst/>
          </a:prstGeom>
        </p:spPr>
      </p:pic>
      <p:pic>
        <p:nvPicPr>
          <p:cNvPr id="4" name="Picture 3">
            <a:extLst>
              <a:ext uri="{FF2B5EF4-FFF2-40B4-BE49-F238E27FC236}">
                <a16:creationId xmlns:a16="http://schemas.microsoft.com/office/drawing/2014/main" id="{E667EC1A-4804-F747-34C2-7978F9C22E33}"/>
              </a:ext>
            </a:extLst>
          </p:cNvPr>
          <p:cNvPicPr>
            <a:picLocks noChangeAspect="1"/>
          </p:cNvPicPr>
          <p:nvPr/>
        </p:nvPicPr>
        <p:blipFill>
          <a:blip r:embed="rId4">
            <a:extLst>
              <a:ext uri="{28A0092B-C50C-407E-A947-70E740481C1C}">
                <a14:useLocalDpi xmlns:a14="http://schemas.microsoft.com/office/drawing/2010/main" val="0"/>
              </a:ext>
            </a:extLst>
          </a:blip>
          <a:srcRect l="6411" r="5216"/>
          <a:stretch>
            <a:fillRect/>
          </a:stretch>
        </p:blipFill>
        <p:spPr>
          <a:xfrm>
            <a:off x="7039897" y="1788773"/>
            <a:ext cx="5093053" cy="384205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F9817-3C83-8722-C520-E7D754108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7AAC1-D55A-E93F-2407-A3405FA6AB9C}"/>
              </a:ext>
            </a:extLst>
          </p:cNvPr>
          <p:cNvSpPr>
            <a:spLocks noGrp="1"/>
          </p:cNvSpPr>
          <p:nvPr>
            <p:ph type="title"/>
          </p:nvPr>
        </p:nvSpPr>
        <p:spPr>
          <a:xfrm>
            <a:off x="838200" y="365125"/>
            <a:ext cx="10515600" cy="1006477"/>
          </a:xfrm>
        </p:spPr>
        <p:txBody>
          <a:bodyPr>
            <a:normAutofit/>
          </a:bodyPr>
          <a:lstStyle/>
          <a:p>
            <a:r>
              <a:rPr lang="en-IN" sz="4800" b="1"/>
              <a:t>Algorithm Flow</a:t>
            </a:r>
          </a:p>
        </p:txBody>
      </p:sp>
      <p:pic>
        <p:nvPicPr>
          <p:cNvPr id="6" name="Google Shape;89;p13" title="KLE Logo.png">
            <a:extLst>
              <a:ext uri="{FF2B5EF4-FFF2-40B4-BE49-F238E27FC236}">
                <a16:creationId xmlns:a16="http://schemas.microsoft.com/office/drawing/2014/main" id="{54C32BD3-8668-E6F3-9146-23B972D8E905}"/>
              </a:ext>
            </a:extLst>
          </p:cNvPr>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Picture 7">
            <a:extLst>
              <a:ext uri="{FF2B5EF4-FFF2-40B4-BE49-F238E27FC236}">
                <a16:creationId xmlns:a16="http://schemas.microsoft.com/office/drawing/2014/main" id="{D6369B1D-DE59-E6B9-AF8A-6B9D3B822CB8}"/>
              </a:ext>
            </a:extLst>
          </p:cNvPr>
          <p:cNvPicPr>
            <a:picLocks noChangeAspect="1"/>
          </p:cNvPicPr>
          <p:nvPr/>
        </p:nvPicPr>
        <p:blipFill>
          <a:blip r:embed="rId3"/>
          <a:stretch>
            <a:fillRect/>
          </a:stretch>
        </p:blipFill>
        <p:spPr>
          <a:xfrm>
            <a:off x="0" y="6341320"/>
            <a:ext cx="12192000" cy="516680"/>
          </a:xfrm>
          <a:prstGeom prst="rect">
            <a:avLst/>
          </a:prstGeom>
        </p:spPr>
      </p:pic>
      <p:cxnSp>
        <p:nvCxnSpPr>
          <p:cNvPr id="9" name="Straight Connector 8">
            <a:extLst>
              <a:ext uri="{FF2B5EF4-FFF2-40B4-BE49-F238E27FC236}">
                <a16:creationId xmlns:a16="http://schemas.microsoft.com/office/drawing/2014/main" id="{608C4D8F-7FA6-876A-2C2C-0340C8681D8D}"/>
              </a:ext>
            </a:extLst>
          </p:cNvPr>
          <p:cNvCxnSpPr/>
          <p:nvPr/>
        </p:nvCxnSpPr>
        <p:spPr>
          <a:xfrm flipV="1">
            <a:off x="299258" y="1446415"/>
            <a:ext cx="11238807" cy="74814"/>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Content Placeholder 3">
            <a:extLst>
              <a:ext uri="{FF2B5EF4-FFF2-40B4-BE49-F238E27FC236}">
                <a16:creationId xmlns:a16="http://schemas.microsoft.com/office/drawing/2014/main" id="{FC79CA7B-0B51-9CD9-48DB-D8D0D9D57D01}"/>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l="1475" t="26415" r="885" b="11635"/>
          <a:stretch>
            <a:fillRect/>
          </a:stretch>
        </p:blipFill>
        <p:spPr>
          <a:xfrm>
            <a:off x="299259" y="2537333"/>
            <a:ext cx="11892742" cy="2277568"/>
          </a:xfrm>
          <a:prstGeom prst="rect">
            <a:avLst/>
          </a:prstGeom>
        </p:spPr>
      </p:pic>
    </p:spTree>
    <p:extLst>
      <p:ext uri="{BB962C8B-B14F-4D97-AF65-F5344CB8AC3E}">
        <p14:creationId xmlns:p14="http://schemas.microsoft.com/office/powerpoint/2010/main" val="1846182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C3DA0-A7C3-0C75-5A62-C44DA18EA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81B38-2B5E-6F93-BC81-42FDC93310D1}"/>
              </a:ext>
            </a:extLst>
          </p:cNvPr>
          <p:cNvSpPr>
            <a:spLocks noGrp="1"/>
          </p:cNvSpPr>
          <p:nvPr>
            <p:ph type="title"/>
          </p:nvPr>
        </p:nvSpPr>
        <p:spPr>
          <a:xfrm>
            <a:off x="838200" y="365125"/>
            <a:ext cx="10515600" cy="1006477"/>
          </a:xfrm>
        </p:spPr>
        <p:txBody>
          <a:bodyPr>
            <a:normAutofit/>
          </a:bodyPr>
          <a:lstStyle/>
          <a:p>
            <a:r>
              <a:rPr lang="en-IN" sz="4800" b="1"/>
              <a:t>Fruit Ripeness</a:t>
            </a:r>
          </a:p>
        </p:txBody>
      </p:sp>
      <p:pic>
        <p:nvPicPr>
          <p:cNvPr id="6" name="Google Shape;89;p13" title="KLE Logo.png">
            <a:extLst>
              <a:ext uri="{FF2B5EF4-FFF2-40B4-BE49-F238E27FC236}">
                <a16:creationId xmlns:a16="http://schemas.microsoft.com/office/drawing/2014/main" id="{B48C9058-877D-F5F5-1C22-173AE21630CC}"/>
              </a:ext>
            </a:extLst>
          </p:cNvPr>
          <p:cNvPicPr preferRelativeResize="0"/>
          <p:nvPr/>
        </p:nvPicPr>
        <p:blipFill>
          <a:blip r:embed="rId3">
            <a:alphaModFix/>
          </a:blip>
          <a:stretch>
            <a:fillRect/>
          </a:stretch>
        </p:blipFill>
        <p:spPr>
          <a:xfrm>
            <a:off x="9015804" y="61523"/>
            <a:ext cx="3176196" cy="599584"/>
          </a:xfrm>
          <a:prstGeom prst="rect">
            <a:avLst/>
          </a:prstGeom>
          <a:noFill/>
          <a:ln>
            <a:noFill/>
          </a:ln>
        </p:spPr>
      </p:pic>
      <p:pic>
        <p:nvPicPr>
          <p:cNvPr id="8" name="Picture 7">
            <a:extLst>
              <a:ext uri="{FF2B5EF4-FFF2-40B4-BE49-F238E27FC236}">
                <a16:creationId xmlns:a16="http://schemas.microsoft.com/office/drawing/2014/main" id="{23C0DE8C-EECF-E635-E75A-009E67C73D45}"/>
              </a:ext>
            </a:extLst>
          </p:cNvPr>
          <p:cNvPicPr>
            <a:picLocks noChangeAspect="1"/>
          </p:cNvPicPr>
          <p:nvPr/>
        </p:nvPicPr>
        <p:blipFill>
          <a:blip r:embed="rId4"/>
          <a:stretch>
            <a:fillRect/>
          </a:stretch>
        </p:blipFill>
        <p:spPr>
          <a:xfrm>
            <a:off x="0" y="6341320"/>
            <a:ext cx="12192000" cy="516680"/>
          </a:xfrm>
          <a:prstGeom prst="rect">
            <a:avLst/>
          </a:prstGeom>
        </p:spPr>
      </p:pic>
      <p:cxnSp>
        <p:nvCxnSpPr>
          <p:cNvPr id="9" name="Straight Connector 8">
            <a:extLst>
              <a:ext uri="{FF2B5EF4-FFF2-40B4-BE49-F238E27FC236}">
                <a16:creationId xmlns:a16="http://schemas.microsoft.com/office/drawing/2014/main" id="{4E9E9ED3-67CB-5968-8DA3-8A02B16DBB81}"/>
              </a:ext>
            </a:extLst>
          </p:cNvPr>
          <p:cNvCxnSpPr/>
          <p:nvPr/>
        </p:nvCxnSpPr>
        <p:spPr>
          <a:xfrm flipV="1">
            <a:off x="299258" y="1446415"/>
            <a:ext cx="11238807" cy="74814"/>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03E1C50D-009D-386C-79E4-01DE4C2F0545}"/>
                  </a:ext>
                </a:extLst>
              </p:cNvPr>
              <p:cNvSpPr>
                <a:spLocks noGrp="1"/>
              </p:cNvSpPr>
              <p:nvPr>
                <p:ph idx="1"/>
              </p:nvPr>
            </p:nvSpPr>
            <p:spPr>
              <a:xfrm>
                <a:off x="485115" y="1755605"/>
                <a:ext cx="5508279" cy="4351338"/>
              </a:xfrm>
            </p:spPr>
            <p:txBody>
              <a:bodyPr>
                <a:normAutofit/>
              </a:bodyPr>
              <a:lstStyle/>
              <a:p>
                <a:r>
                  <a:rPr lang="en-US" sz="2000" b="1" dirty="0"/>
                  <a:t>Ripeness Detection Algorithm:  </a:t>
                </a:r>
                <a:r>
                  <a:rPr lang="en-US" sz="2000" dirty="0"/>
                  <a:t>Moving average algorithm</a:t>
                </a:r>
              </a:p>
              <a:p>
                <a:r>
                  <a:rPr lang="en-US" sz="2000" b="1" dirty="0"/>
                  <a:t>Linear Regression:  </a:t>
                </a:r>
                <a14:m>
                  <m:oMath xmlns:m="http://schemas.openxmlformats.org/officeDocument/2006/math">
                    <m:r>
                      <a:rPr lang="en-US" sz="2000" i="1">
                        <a:latin typeface="Cambria Math" panose="02040503050406030204" pitchFamily="18" charset="0"/>
                      </a:rPr>
                      <m:t>𝑠𝑙𝑜𝑝𝑒</m:t>
                    </m:r>
                    <m:r>
                      <a:rPr lang="en-US" sz="200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𝑁</m:t>
                        </m:r>
                        <m:nary>
                          <m:naryPr>
                            <m:chr m:val="∑"/>
                            <m:grow m:val="on"/>
                            <m:subHide m:val="on"/>
                            <m:supHide m:val="on"/>
                            <m:ctrlPr>
                              <a:rPr lang="en-US" sz="2000" i="1">
                                <a:latin typeface="Cambria Math" panose="02040503050406030204" pitchFamily="18" charset="0"/>
                              </a:rPr>
                            </m:ctrlPr>
                          </m:naryPr>
                          <m:sub/>
                          <m:sup/>
                          <m:e>
                            <m:r>
                              <a:rPr lang="en-US" sz="2000">
                                <a:latin typeface="Cambria Math" panose="02040503050406030204" pitchFamily="18" charset="0"/>
                              </a:rPr>
                              <m:t>(</m:t>
                            </m:r>
                          </m:e>
                        </m:nary>
                        <m:d>
                          <m:dPr>
                            <m:beg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𝑖</m:t>
                                </m:r>
                              </m:sub>
                            </m:sSub>
                          </m:e>
                        </m:d>
                        <m:r>
                          <a:rPr lang="en-US" sz="2000">
                            <a:latin typeface="Cambria Math" panose="02040503050406030204" pitchFamily="18" charset="0"/>
                          </a:rPr>
                          <m:t>−</m:t>
                        </m:r>
                        <m:nary>
                          <m:naryPr>
                            <m:chr m:val="∑"/>
                            <m:grow m:val="on"/>
                            <m:subHide m:val="on"/>
                            <m:supHide m:val="on"/>
                            <m:ctrlPr>
                              <a:rPr lang="en-US" sz="2000" i="1">
                                <a:latin typeface="Cambria Math" panose="02040503050406030204" pitchFamily="18" charset="0"/>
                              </a:rPr>
                            </m:ctrlPr>
                          </m:naryPr>
                          <m:sub/>
                          <m:sup/>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e>
                        </m:nary>
                        <m:nary>
                          <m:naryPr>
                            <m:chr m:val="∑"/>
                            <m:grow m:val="on"/>
                            <m:subHide m:val="on"/>
                            <m:supHide m:val="on"/>
                            <m:ctrlPr>
                              <a:rPr lang="en-US" sz="2000" i="1">
                                <a:latin typeface="Cambria Math" panose="02040503050406030204" pitchFamily="18" charset="0"/>
                              </a:rPr>
                            </m:ctrlPr>
                          </m:naryPr>
                          <m:sub/>
                          <m:sup/>
                          <m:e>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𝑖</m:t>
                                </m:r>
                              </m:sub>
                            </m:sSub>
                          </m:e>
                        </m:nary>
                      </m:num>
                      <m:den>
                        <m:r>
                          <a:rPr lang="en-US" sz="2000" i="1">
                            <a:latin typeface="Cambria Math" panose="02040503050406030204" pitchFamily="18" charset="0"/>
                          </a:rPr>
                          <m:t>𝑁</m:t>
                        </m:r>
                        <m:nary>
                          <m:naryPr>
                            <m:chr m:val="∑"/>
                            <m:grow m:val="on"/>
                            <m:subHide m:val="on"/>
                            <m:supHide m:val="on"/>
                            <m:ctrlPr>
                              <a:rPr lang="en-US" sz="2000" i="1">
                                <a:latin typeface="Cambria Math" panose="02040503050406030204" pitchFamily="18" charset="0"/>
                              </a:rPr>
                            </m:ctrlPr>
                          </m:naryPr>
                          <m:sub/>
                          <m:sup/>
                          <m:e>
                            <m:r>
                              <a:rPr lang="en-US" sz="2000">
                                <a:latin typeface="Cambria Math" panose="02040503050406030204" pitchFamily="18" charset="0"/>
                              </a:rPr>
                              <m:t>(</m:t>
                            </m:r>
                          </m:e>
                        </m:nary>
                        <m:d>
                          <m:dPr>
                            <m:begChr m:val=""/>
                            <m:ctrlPr>
                              <a:rPr lang="en-US" sz="2000" i="1">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𝑖</m:t>
                                </m:r>
                              </m:sub>
                              <m:sup>
                                <m:r>
                                  <a:rPr lang="en-US" sz="2000">
                                    <a:latin typeface="Cambria Math" panose="02040503050406030204" pitchFamily="18" charset="0"/>
                                  </a:rPr>
                                  <m:t>2</m:t>
                                </m:r>
                              </m:sup>
                            </m:sSubSup>
                          </m:e>
                        </m:d>
                        <m:r>
                          <a:rPr lang="en-US" sz="2000">
                            <a:latin typeface="Cambria Math" panose="02040503050406030204" pitchFamily="18" charset="0"/>
                          </a:rPr>
                          <m:t>−</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nary>
                                  <m:naryPr>
                                    <m:chr m:val="∑"/>
                                    <m:grow m:val="on"/>
                                    <m:subHide m:val="on"/>
                                    <m:supHide m:val="on"/>
                                    <m:ctrlPr>
                                      <a:rPr lang="en-US" sz="2000" i="1">
                                        <a:latin typeface="Cambria Math" panose="02040503050406030204" pitchFamily="18" charset="0"/>
                                      </a:rPr>
                                    </m:ctrlPr>
                                  </m:naryPr>
                                  <m:sub/>
                                  <m:sup/>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e>
                                </m:nary>
                              </m:e>
                            </m:d>
                          </m:e>
                          <m:sup>
                            <m:r>
                              <a:rPr lang="en-US" sz="2000">
                                <a:latin typeface="Cambria Math" panose="02040503050406030204" pitchFamily="18" charset="0"/>
                              </a:rPr>
                              <m:t>2</m:t>
                            </m:r>
                          </m:sup>
                        </m:sSup>
                      </m:den>
                    </m:f>
                  </m:oMath>
                </a14:m>
                <a:endParaRPr lang="en-US" sz="2000" dirty="0"/>
              </a:p>
              <a:p>
                <a:pPr marL="0" indent="0">
                  <a:buNone/>
                </a:pPr>
                <a:r>
                  <a:rPr lang="en-US" sz="2000" dirty="0"/>
                  <a:t>Where:</a:t>
                </a:r>
              </a:p>
              <a:p>
                <a:r>
                  <a:rPr lang="en-US" sz="2000" dirty="0"/>
                  <a:t>x = sample number </a:t>
                </a:r>
              </a:p>
              <a:p>
                <a:r>
                  <a:rPr lang="en-US" sz="2000" dirty="0"/>
                  <a:t>y = gas resistance </a:t>
                </a:r>
              </a:p>
              <a:p>
                <a:r>
                  <a:rPr lang="en-US" sz="2000" dirty="0"/>
                  <a:t>N = number of samples </a:t>
                </a:r>
              </a:p>
              <a:p>
                <a:r>
                  <a:rPr lang="en-US" sz="2000" dirty="0"/>
                  <a:t>The slope indicates fruit ripening behavior.</a:t>
                </a:r>
              </a:p>
            </p:txBody>
          </p:sp>
        </mc:Choice>
        <mc:Fallback>
          <p:sp>
            <p:nvSpPr>
              <p:cNvPr id="5" name="Content Placeholder 4">
                <a:extLst>
                  <a:ext uri="{FF2B5EF4-FFF2-40B4-BE49-F238E27FC236}">
                    <a16:creationId xmlns:a16="http://schemas.microsoft.com/office/drawing/2014/main" id="{03E1C50D-009D-386C-79E4-01DE4C2F0545}"/>
                  </a:ext>
                </a:extLst>
              </p:cNvPr>
              <p:cNvSpPr>
                <a:spLocks noGrp="1" noRot="1" noChangeAspect="1" noMove="1" noResize="1" noEditPoints="1" noAdjustHandles="1" noChangeArrowheads="1" noChangeShapeType="1" noTextEdit="1"/>
              </p:cNvSpPr>
              <p:nvPr>
                <p:ph idx="1"/>
              </p:nvPr>
            </p:nvSpPr>
            <p:spPr>
              <a:xfrm>
                <a:off x="485115" y="1755605"/>
                <a:ext cx="5508279" cy="4351338"/>
              </a:xfrm>
              <a:blipFill>
                <a:blip r:embed="rId5"/>
                <a:stretch>
                  <a:fillRect l="-1218" t="-1541"/>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B36AEA86-B0A4-7931-5A5B-47D40F767B09}"/>
              </a:ext>
            </a:extLst>
          </p:cNvPr>
          <p:cNvSpPr txBox="1"/>
          <p:nvPr/>
        </p:nvSpPr>
        <p:spPr>
          <a:xfrm>
            <a:off x="6355532" y="1755605"/>
            <a:ext cx="5468293" cy="400110"/>
          </a:xfrm>
          <a:prstGeom prst="rect">
            <a:avLst/>
          </a:prstGeom>
          <a:noFill/>
        </p:spPr>
        <p:txBody>
          <a:bodyPr wrap="square" rtlCol="0">
            <a:spAutoFit/>
          </a:bodyPr>
          <a:lstStyle/>
          <a:p>
            <a:pPr algn="ctr"/>
            <a:r>
              <a:rPr lang="en-US" sz="2000" b="1"/>
              <a:t>Fruit Classification</a:t>
            </a:r>
          </a:p>
        </p:txBody>
      </p:sp>
      <p:cxnSp>
        <p:nvCxnSpPr>
          <p:cNvPr id="13" name="Straight Connector 12">
            <a:extLst>
              <a:ext uri="{FF2B5EF4-FFF2-40B4-BE49-F238E27FC236}">
                <a16:creationId xmlns:a16="http://schemas.microsoft.com/office/drawing/2014/main" id="{06915508-90E6-B409-35AE-8DF58FCA41CA}"/>
              </a:ext>
            </a:extLst>
          </p:cNvPr>
          <p:cNvCxnSpPr>
            <a:cxnSpLocks/>
          </p:cNvCxnSpPr>
          <p:nvPr/>
        </p:nvCxnSpPr>
        <p:spPr>
          <a:xfrm>
            <a:off x="5993394" y="1755605"/>
            <a:ext cx="0" cy="4351338"/>
          </a:xfrm>
          <a:prstGeom prst="line">
            <a:avLst/>
          </a:prstGeom>
        </p:spPr>
        <p:style>
          <a:lnRef idx="1">
            <a:schemeClr val="dk1"/>
          </a:lnRef>
          <a:fillRef idx="0">
            <a:schemeClr val="dk1"/>
          </a:fillRef>
          <a:effectRef idx="0">
            <a:schemeClr val="dk1"/>
          </a:effectRef>
          <a:fontRef idx="minor">
            <a:schemeClr val="tx1"/>
          </a:fontRef>
        </p:style>
      </p:cxnSp>
      <p:graphicFrame>
        <p:nvGraphicFramePr>
          <p:cNvPr id="15" name="Table 14">
            <a:extLst>
              <a:ext uri="{FF2B5EF4-FFF2-40B4-BE49-F238E27FC236}">
                <a16:creationId xmlns:a16="http://schemas.microsoft.com/office/drawing/2014/main" id="{C51BA0AD-CA42-CD82-FD3F-E3A1F1BA40D0}"/>
              </a:ext>
            </a:extLst>
          </p:cNvPr>
          <p:cNvGraphicFramePr>
            <a:graphicFrameLocks noGrp="1"/>
          </p:cNvGraphicFramePr>
          <p:nvPr>
            <p:extLst>
              <p:ext uri="{D42A27DB-BD31-4B8C-83A1-F6EECF244321}">
                <p14:modId xmlns:p14="http://schemas.microsoft.com/office/powerpoint/2010/main" val="1206355150"/>
              </p:ext>
            </p:extLst>
          </p:nvPr>
        </p:nvGraphicFramePr>
        <p:xfrm>
          <a:off x="6500387" y="2466100"/>
          <a:ext cx="4264182" cy="2571535"/>
        </p:xfrm>
        <a:graphic>
          <a:graphicData uri="http://schemas.openxmlformats.org/drawingml/2006/table">
            <a:tbl>
              <a:tblPr firstRow="1" bandRow="1">
                <a:tableStyleId>{5940675A-B579-460E-94D1-54222C63F5DA}</a:tableStyleId>
              </a:tblPr>
              <a:tblGrid>
                <a:gridCol w="2132091">
                  <a:extLst>
                    <a:ext uri="{9D8B030D-6E8A-4147-A177-3AD203B41FA5}">
                      <a16:colId xmlns:a16="http://schemas.microsoft.com/office/drawing/2014/main" val="888984692"/>
                    </a:ext>
                  </a:extLst>
                </a:gridCol>
                <a:gridCol w="2132091">
                  <a:extLst>
                    <a:ext uri="{9D8B030D-6E8A-4147-A177-3AD203B41FA5}">
                      <a16:colId xmlns:a16="http://schemas.microsoft.com/office/drawing/2014/main" val="2262034404"/>
                    </a:ext>
                  </a:extLst>
                </a:gridCol>
              </a:tblGrid>
              <a:tr h="514307">
                <a:tc>
                  <a:txBody>
                    <a:bodyPr/>
                    <a:lstStyle/>
                    <a:p>
                      <a:pPr algn="ctr">
                        <a:buNone/>
                      </a:pPr>
                      <a:r>
                        <a:rPr lang="en-US" b="1"/>
                        <a:t>Slope (Ω/s)</a:t>
                      </a:r>
                    </a:p>
                  </a:txBody>
                  <a:tcPr anchor="ctr"/>
                </a:tc>
                <a:tc>
                  <a:txBody>
                    <a:bodyPr/>
                    <a:lstStyle/>
                    <a:p>
                      <a:pPr algn="ctr">
                        <a:buNone/>
                      </a:pPr>
                      <a:r>
                        <a:rPr lang="en-US" b="1"/>
                        <a:t>Condition</a:t>
                      </a:r>
                    </a:p>
                  </a:txBody>
                  <a:tcPr anchor="ctr"/>
                </a:tc>
                <a:extLst>
                  <a:ext uri="{0D108BD9-81ED-4DB2-BD59-A6C34878D82A}">
                    <a16:rowId xmlns:a16="http://schemas.microsoft.com/office/drawing/2014/main" val="2511508303"/>
                  </a:ext>
                </a:extLst>
              </a:tr>
              <a:tr h="514307">
                <a:tc>
                  <a:txBody>
                    <a:bodyPr/>
                    <a:lstStyle/>
                    <a:p>
                      <a:pPr algn="ctr"/>
                      <a:r>
                        <a:rPr lang="en-US"/>
                        <a:t>&gt;-3</a:t>
                      </a:r>
                    </a:p>
                  </a:txBody>
                  <a:tcPr anchor="ctr"/>
                </a:tc>
                <a:tc>
                  <a:txBody>
                    <a:bodyPr/>
                    <a:lstStyle/>
                    <a:p>
                      <a:pPr algn="ctr"/>
                      <a:r>
                        <a:rPr lang="en-US"/>
                        <a:t>Empty</a:t>
                      </a:r>
                    </a:p>
                  </a:txBody>
                  <a:tcPr anchor="ctr"/>
                </a:tc>
                <a:extLst>
                  <a:ext uri="{0D108BD9-81ED-4DB2-BD59-A6C34878D82A}">
                    <a16:rowId xmlns:a16="http://schemas.microsoft.com/office/drawing/2014/main" val="3739838623"/>
                  </a:ext>
                </a:extLst>
              </a:tr>
              <a:tr h="514307">
                <a:tc>
                  <a:txBody>
                    <a:bodyPr/>
                    <a:lstStyle/>
                    <a:p>
                      <a:pPr algn="ctr"/>
                      <a:r>
                        <a:rPr lang="en-US"/>
                        <a:t>-3 to -15</a:t>
                      </a:r>
                    </a:p>
                  </a:txBody>
                  <a:tcPr anchor="ctr"/>
                </a:tc>
                <a:tc>
                  <a:txBody>
                    <a:bodyPr/>
                    <a:lstStyle/>
                    <a:p>
                      <a:pPr algn="ctr"/>
                      <a:r>
                        <a:rPr lang="en-US"/>
                        <a:t>Fresh</a:t>
                      </a:r>
                    </a:p>
                  </a:txBody>
                  <a:tcPr anchor="ctr"/>
                </a:tc>
                <a:extLst>
                  <a:ext uri="{0D108BD9-81ED-4DB2-BD59-A6C34878D82A}">
                    <a16:rowId xmlns:a16="http://schemas.microsoft.com/office/drawing/2014/main" val="1978685945"/>
                  </a:ext>
                </a:extLst>
              </a:tr>
              <a:tr h="514307">
                <a:tc>
                  <a:txBody>
                    <a:bodyPr/>
                    <a:lstStyle/>
                    <a:p>
                      <a:pPr algn="ctr"/>
                      <a:r>
                        <a:rPr lang="en-US"/>
                        <a:t>-15 to -40</a:t>
                      </a:r>
                    </a:p>
                  </a:txBody>
                  <a:tcPr anchor="ctr"/>
                </a:tc>
                <a:tc>
                  <a:txBody>
                    <a:bodyPr/>
                    <a:lstStyle/>
                    <a:p>
                      <a:pPr algn="ctr"/>
                      <a:r>
                        <a:rPr lang="en-US"/>
                        <a:t>Ripening</a:t>
                      </a:r>
                    </a:p>
                  </a:txBody>
                  <a:tcPr anchor="ctr"/>
                </a:tc>
                <a:extLst>
                  <a:ext uri="{0D108BD9-81ED-4DB2-BD59-A6C34878D82A}">
                    <a16:rowId xmlns:a16="http://schemas.microsoft.com/office/drawing/2014/main" val="1565585681"/>
                  </a:ext>
                </a:extLst>
              </a:tr>
              <a:tr h="514307">
                <a:tc>
                  <a:txBody>
                    <a:bodyPr/>
                    <a:lstStyle/>
                    <a:p>
                      <a:pPr algn="ctr"/>
                      <a:r>
                        <a:rPr lang="en-US"/>
                        <a:t>&lt; -40</a:t>
                      </a:r>
                    </a:p>
                  </a:txBody>
                  <a:tcPr anchor="ctr"/>
                </a:tc>
                <a:tc>
                  <a:txBody>
                    <a:bodyPr/>
                    <a:lstStyle/>
                    <a:p>
                      <a:pPr algn="ctr"/>
                      <a:r>
                        <a:rPr lang="en-US"/>
                        <a:t>Overripe</a:t>
                      </a:r>
                    </a:p>
                  </a:txBody>
                  <a:tcPr anchor="ctr"/>
                </a:tc>
                <a:extLst>
                  <a:ext uri="{0D108BD9-81ED-4DB2-BD59-A6C34878D82A}">
                    <a16:rowId xmlns:a16="http://schemas.microsoft.com/office/drawing/2014/main" val="2905258187"/>
                  </a:ext>
                </a:extLst>
              </a:tr>
            </a:tbl>
          </a:graphicData>
        </a:graphic>
      </p:graphicFrame>
    </p:spTree>
    <p:extLst>
      <p:ext uri="{BB962C8B-B14F-4D97-AF65-F5344CB8AC3E}">
        <p14:creationId xmlns:p14="http://schemas.microsoft.com/office/powerpoint/2010/main" val="677015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7"/>
          </a:xfrm>
        </p:spPr>
        <p:txBody>
          <a:bodyPr>
            <a:normAutofit/>
          </a:bodyPr>
          <a:lstStyle/>
          <a:p>
            <a:r>
              <a:rPr lang="en-IN" sz="4800" b="1"/>
              <a:t>Communication Implementation</a:t>
            </a:r>
          </a:p>
        </p:txBody>
      </p:sp>
      <p:sp>
        <p:nvSpPr>
          <p:cNvPr id="5" name="Content Placeholder 4"/>
          <p:cNvSpPr>
            <a:spLocks noGrp="1"/>
          </p:cNvSpPr>
          <p:nvPr>
            <p:ph idx="1"/>
          </p:nvPr>
        </p:nvSpPr>
        <p:spPr/>
        <p:txBody>
          <a:bodyPr vert="horz" lIns="91440" tIns="45720" rIns="91440" bIns="45720" rtlCol="0" anchor="t">
            <a:normAutofit/>
          </a:bodyPr>
          <a:lstStyle/>
          <a:p>
            <a:pPr marL="0" indent="0">
              <a:buNone/>
            </a:pPr>
            <a:r>
              <a:rPr lang="en-US" sz="2000" b="1" dirty="0"/>
              <a:t>WiFi Layer</a:t>
            </a:r>
          </a:p>
          <a:p>
            <a:pPr marL="228600" indent="-228600">
              <a:buChar char="•"/>
            </a:pPr>
            <a:r>
              <a:rPr lang="en-US" sz="1500" dirty="0"/>
              <a:t>ESP32-S3 configured as WiFi Station (STA) mode</a:t>
            </a:r>
          </a:p>
          <a:p>
            <a:pPr marL="228600" indent="-228600">
              <a:buChar char="•"/>
            </a:pPr>
            <a:r>
              <a:rPr lang="en-US" sz="1500" dirty="0"/>
              <a:t>Connects to SSID, obtains IP via DHCP</a:t>
            </a:r>
          </a:p>
          <a:p>
            <a:pPr marL="228600" indent="-228600">
              <a:buChar char="•"/>
            </a:pPr>
            <a:r>
              <a:rPr lang="en-US" sz="1500" dirty="0"/>
              <a:t>Event handler auto-reconnects on STA_DISCONNECTED</a:t>
            </a:r>
          </a:p>
          <a:p>
            <a:pPr marL="228600" indent="-228600">
              <a:buChar char="•"/>
            </a:pPr>
            <a:r>
              <a:rPr lang="en-US" sz="1500" dirty="0"/>
              <a:t>15 s timeout on IP acquisition via EventGroup bit</a:t>
            </a:r>
          </a:p>
          <a:p>
            <a:pPr marL="0" indent="0">
              <a:buNone/>
            </a:pPr>
            <a:r>
              <a:rPr lang="en-US" sz="2000" b="1" dirty="0"/>
              <a:t>MQTT Layer</a:t>
            </a:r>
          </a:p>
          <a:p>
            <a:pPr marL="228600" indent="-228600">
              <a:buChar char="•"/>
            </a:pPr>
            <a:r>
              <a:rPr lang="en-US" sz="1500" dirty="0"/>
              <a:t>Broker: mqtt://broker.emqx.io:1883</a:t>
            </a:r>
          </a:p>
          <a:p>
            <a:pPr marL="228600" indent="-228600">
              <a:buChar char="•"/>
            </a:pPr>
            <a:r>
              <a:rPr lang="en-US" sz="1500" dirty="0"/>
              <a:t>esp_mqtt_client_init() + esp_mqtt_client_start(); QoS=1, Retain=0</a:t>
            </a:r>
          </a:p>
          <a:p>
            <a:pPr marL="228600" indent="-228600">
              <a:buChar char="•"/>
            </a:pPr>
            <a:r>
              <a:rPr lang="en-US" sz="1500" dirty="0"/>
              <a:t>2 s delay after MQTT start to allow broker handshake</a:t>
            </a:r>
          </a:p>
          <a:p>
            <a:pPr marL="0" indent="0">
              <a:buNone/>
            </a:pPr>
            <a:r>
              <a:rPr lang="en-US" sz="2000" b="1" dirty="0"/>
              <a:t>Published Topics</a:t>
            </a:r>
          </a:p>
          <a:p>
            <a:pPr marL="228600" indent="-228600">
              <a:buChar char="•"/>
            </a:pPr>
            <a:r>
              <a:rPr lang="en-US" sz="1500" dirty="0"/>
              <a:t>bme680/data — published on every valid BME680 reading: timestamp, temp, humidity, pressure, gas resistance</a:t>
            </a:r>
          </a:p>
          <a:p>
            <a:pPr marL="228600" indent="-228600">
              <a:buChar char="•"/>
            </a:pPr>
            <a:r>
              <a:rPr lang="en-US" sz="1500" dirty="0"/>
              <a:t>bme680/decision — published every 240 valid samples (~1 hr): timestamp, sample count, regression slope, condition</a:t>
            </a:r>
          </a:p>
        </p:txBody>
      </p:sp>
      <p:pic>
        <p:nvPicPr>
          <p:cNvPr id="6" name="KLE Logo" title="KLE Logo.png"/>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Footer Bar"/>
          <p:cNvPicPr>
            <a:picLocks noChangeAspect="1"/>
          </p:cNvPicPr>
          <p:nvPr/>
        </p:nvPicPr>
        <p:blipFill>
          <a:blip r:embed="rId3"/>
          <a:stretch>
            <a:fillRect/>
          </a:stretch>
        </p:blipFill>
        <p:spPr>
          <a:xfrm>
            <a:off x="0" y="6341320"/>
            <a:ext cx="12192000" cy="5166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D3BE0-5BDF-8479-FC73-0D8565101B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35CBD-E14F-337F-B840-F05243418C03}"/>
              </a:ext>
            </a:extLst>
          </p:cNvPr>
          <p:cNvSpPr>
            <a:spLocks noGrp="1"/>
          </p:cNvSpPr>
          <p:nvPr>
            <p:ph type="title"/>
          </p:nvPr>
        </p:nvSpPr>
        <p:spPr>
          <a:xfrm>
            <a:off x="838200" y="365125"/>
            <a:ext cx="10515600" cy="1006477"/>
          </a:xfrm>
        </p:spPr>
        <p:txBody>
          <a:bodyPr>
            <a:normAutofit/>
          </a:bodyPr>
          <a:lstStyle/>
          <a:p>
            <a:r>
              <a:rPr lang="en-IN" sz="4800" b="1"/>
              <a:t>MQTT Publish &amp; Decision Logic Flow</a:t>
            </a:r>
          </a:p>
        </p:txBody>
      </p:sp>
      <p:pic>
        <p:nvPicPr>
          <p:cNvPr id="6" name="Google Shape;89;p13" title="KLE Logo.png">
            <a:extLst>
              <a:ext uri="{FF2B5EF4-FFF2-40B4-BE49-F238E27FC236}">
                <a16:creationId xmlns:a16="http://schemas.microsoft.com/office/drawing/2014/main" id="{373CDF8A-29FD-3760-0230-7E58DAFDA8DE}"/>
              </a:ext>
            </a:extLst>
          </p:cNvPr>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Picture 7">
            <a:extLst>
              <a:ext uri="{FF2B5EF4-FFF2-40B4-BE49-F238E27FC236}">
                <a16:creationId xmlns:a16="http://schemas.microsoft.com/office/drawing/2014/main" id="{4C063AD3-E467-3DF7-C49D-19A06176C7CD}"/>
              </a:ext>
            </a:extLst>
          </p:cNvPr>
          <p:cNvPicPr>
            <a:picLocks noChangeAspect="1"/>
          </p:cNvPicPr>
          <p:nvPr/>
        </p:nvPicPr>
        <p:blipFill>
          <a:blip r:embed="rId3"/>
          <a:stretch>
            <a:fillRect/>
          </a:stretch>
        </p:blipFill>
        <p:spPr>
          <a:xfrm>
            <a:off x="0" y="6341320"/>
            <a:ext cx="12192000" cy="516680"/>
          </a:xfrm>
          <a:prstGeom prst="rect">
            <a:avLst/>
          </a:prstGeom>
        </p:spPr>
      </p:pic>
      <p:cxnSp>
        <p:nvCxnSpPr>
          <p:cNvPr id="9" name="Straight Connector 8">
            <a:extLst>
              <a:ext uri="{FF2B5EF4-FFF2-40B4-BE49-F238E27FC236}">
                <a16:creationId xmlns:a16="http://schemas.microsoft.com/office/drawing/2014/main" id="{8273CFE8-5893-B324-7094-2B5C98D5A601}"/>
              </a:ext>
            </a:extLst>
          </p:cNvPr>
          <p:cNvCxnSpPr/>
          <p:nvPr/>
        </p:nvCxnSpPr>
        <p:spPr>
          <a:xfrm flipV="1">
            <a:off x="299258" y="1446415"/>
            <a:ext cx="11238807" cy="74814"/>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Content Placeholder 3">
            <a:extLst>
              <a:ext uri="{FF2B5EF4-FFF2-40B4-BE49-F238E27FC236}">
                <a16:creationId xmlns:a16="http://schemas.microsoft.com/office/drawing/2014/main" id="{671F9043-896F-84B4-BF1C-C802E89AE7BA}"/>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t="35234" b="28771"/>
          <a:stretch>
            <a:fillRect/>
          </a:stretch>
        </p:blipFill>
        <p:spPr>
          <a:xfrm>
            <a:off x="76954" y="2848703"/>
            <a:ext cx="12038091" cy="2019799"/>
          </a:xfrm>
          <a:prstGeom prst="rect">
            <a:avLst/>
          </a:prstGeom>
        </p:spPr>
      </p:pic>
    </p:spTree>
    <p:extLst>
      <p:ext uri="{BB962C8B-B14F-4D97-AF65-F5344CB8AC3E}">
        <p14:creationId xmlns:p14="http://schemas.microsoft.com/office/powerpoint/2010/main" val="4292085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4A0B8-122C-5CC8-5696-EBE1C30CE8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7659F-CB10-7961-E21F-15F76734E6FA}"/>
              </a:ext>
            </a:extLst>
          </p:cNvPr>
          <p:cNvSpPr>
            <a:spLocks noGrp="1"/>
          </p:cNvSpPr>
          <p:nvPr>
            <p:ph type="title"/>
          </p:nvPr>
        </p:nvSpPr>
        <p:spPr>
          <a:xfrm>
            <a:off x="838200" y="365125"/>
            <a:ext cx="10515600" cy="1006477"/>
          </a:xfrm>
        </p:spPr>
        <p:txBody>
          <a:bodyPr>
            <a:normAutofit/>
          </a:bodyPr>
          <a:lstStyle/>
          <a:p>
            <a:r>
              <a:rPr lang="en-IN" sz="4800" b="1" dirty="0"/>
              <a:t>MQTT CONNETION</a:t>
            </a:r>
          </a:p>
        </p:txBody>
      </p:sp>
      <p:pic>
        <p:nvPicPr>
          <p:cNvPr id="6" name="Google Shape;89;p13" title="KLE Logo.png">
            <a:extLst>
              <a:ext uri="{FF2B5EF4-FFF2-40B4-BE49-F238E27FC236}">
                <a16:creationId xmlns:a16="http://schemas.microsoft.com/office/drawing/2014/main" id="{17E9FA85-98F9-F20A-FDB1-BB9E296D5F64}"/>
              </a:ext>
            </a:extLst>
          </p:cNvPr>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Picture 7">
            <a:extLst>
              <a:ext uri="{FF2B5EF4-FFF2-40B4-BE49-F238E27FC236}">
                <a16:creationId xmlns:a16="http://schemas.microsoft.com/office/drawing/2014/main" id="{7D5F7554-37C0-31DE-DD13-FB0DF5896740}"/>
              </a:ext>
            </a:extLst>
          </p:cNvPr>
          <p:cNvPicPr>
            <a:picLocks noChangeAspect="1"/>
          </p:cNvPicPr>
          <p:nvPr/>
        </p:nvPicPr>
        <p:blipFill>
          <a:blip r:embed="rId3"/>
          <a:stretch>
            <a:fillRect/>
          </a:stretch>
        </p:blipFill>
        <p:spPr>
          <a:xfrm>
            <a:off x="0" y="6341320"/>
            <a:ext cx="12192000" cy="516680"/>
          </a:xfrm>
          <a:prstGeom prst="rect">
            <a:avLst/>
          </a:prstGeom>
        </p:spPr>
      </p:pic>
      <p:cxnSp>
        <p:nvCxnSpPr>
          <p:cNvPr id="9" name="Straight Connector 8">
            <a:extLst>
              <a:ext uri="{FF2B5EF4-FFF2-40B4-BE49-F238E27FC236}">
                <a16:creationId xmlns:a16="http://schemas.microsoft.com/office/drawing/2014/main" id="{83BB6611-EA2B-AB27-49E6-B46D5F0DDAE7}"/>
              </a:ext>
            </a:extLst>
          </p:cNvPr>
          <p:cNvCxnSpPr/>
          <p:nvPr/>
        </p:nvCxnSpPr>
        <p:spPr>
          <a:xfrm flipV="1">
            <a:off x="299258" y="1446415"/>
            <a:ext cx="11238807" cy="74814"/>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Content Placeholder 9">
            <a:extLst>
              <a:ext uri="{FF2B5EF4-FFF2-40B4-BE49-F238E27FC236}">
                <a16:creationId xmlns:a16="http://schemas.microsoft.com/office/drawing/2014/main" id="{F67EEFF8-CF4A-4597-4300-57B69639335D}"/>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763670" y="1664470"/>
            <a:ext cx="8309982" cy="4676850"/>
          </a:xfrm>
          <a:prstGeom prst="rect">
            <a:avLst/>
          </a:prstGeom>
        </p:spPr>
      </p:pic>
      <p:sp>
        <p:nvSpPr>
          <p:cNvPr id="11" name="Rectangle 10">
            <a:extLst>
              <a:ext uri="{FF2B5EF4-FFF2-40B4-BE49-F238E27FC236}">
                <a16:creationId xmlns:a16="http://schemas.microsoft.com/office/drawing/2014/main" id="{52261551-84B7-7F0B-FE48-7F8CC259E8F9}"/>
              </a:ext>
            </a:extLst>
          </p:cNvPr>
          <p:cNvSpPr/>
          <p:nvPr/>
        </p:nvSpPr>
        <p:spPr>
          <a:xfrm>
            <a:off x="7069394" y="1664470"/>
            <a:ext cx="1563329" cy="23315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31294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0C6F6-3EED-5FA1-9A8D-12C4936FDB98}"/>
            </a:ext>
          </a:extLst>
        </p:cNvPr>
        <p:cNvGrpSpPr/>
        <p:nvPr/>
      </p:nvGrpSpPr>
      <p:grpSpPr>
        <a:xfrm>
          <a:off x="0" y="0"/>
          <a:ext cx="0" cy="0"/>
          <a:chOff x="0" y="0"/>
          <a:chExt cx="0" cy="0"/>
        </a:xfrm>
      </p:grpSpPr>
      <p:pic>
        <p:nvPicPr>
          <p:cNvPr id="6" name="KLE Logo" title="KLE Logo.png">
            <a:extLst>
              <a:ext uri="{FF2B5EF4-FFF2-40B4-BE49-F238E27FC236}">
                <a16:creationId xmlns:a16="http://schemas.microsoft.com/office/drawing/2014/main" id="{E23AD773-B5C2-3B10-A6AE-D7204487BA0F}"/>
              </a:ext>
            </a:extLst>
          </p:cNvPr>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Footer Bar">
            <a:extLst>
              <a:ext uri="{FF2B5EF4-FFF2-40B4-BE49-F238E27FC236}">
                <a16:creationId xmlns:a16="http://schemas.microsoft.com/office/drawing/2014/main" id="{844A7A91-8A69-2BA5-F676-7D22EA60C543}"/>
              </a:ext>
            </a:extLst>
          </p:cNvPr>
          <p:cNvPicPr>
            <a:picLocks noChangeAspect="1"/>
          </p:cNvPicPr>
          <p:nvPr/>
        </p:nvPicPr>
        <p:blipFill>
          <a:blip r:embed="rId3"/>
          <a:stretch>
            <a:fillRect/>
          </a:stretch>
        </p:blipFill>
        <p:spPr>
          <a:xfrm>
            <a:off x="0" y="6341320"/>
            <a:ext cx="12192000" cy="516680"/>
          </a:xfrm>
          <a:prstGeom prst="rect">
            <a:avLst/>
          </a:prstGeom>
        </p:spPr>
      </p:pic>
      <p:pic>
        <p:nvPicPr>
          <p:cNvPr id="11" name="Content Placeholder 10">
            <a:extLst>
              <a:ext uri="{FF2B5EF4-FFF2-40B4-BE49-F238E27FC236}">
                <a16:creationId xmlns:a16="http://schemas.microsoft.com/office/drawing/2014/main" id="{2D3E55AD-3025-8E17-C0AC-CBAAE169FECF}"/>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087922" y="994528"/>
            <a:ext cx="9515980" cy="5346792"/>
          </a:xfrm>
          <a:prstGeom prst="rect">
            <a:avLst/>
          </a:prstGeom>
        </p:spPr>
      </p:pic>
      <p:sp>
        <p:nvSpPr>
          <p:cNvPr id="9" name="Title 8">
            <a:extLst>
              <a:ext uri="{FF2B5EF4-FFF2-40B4-BE49-F238E27FC236}">
                <a16:creationId xmlns:a16="http://schemas.microsoft.com/office/drawing/2014/main" id="{C84B1298-1B8F-62B4-8F68-06459FAC539C}"/>
              </a:ext>
            </a:extLst>
          </p:cNvPr>
          <p:cNvSpPr>
            <a:spLocks noGrp="1"/>
          </p:cNvSpPr>
          <p:nvPr>
            <p:ph type="title"/>
          </p:nvPr>
        </p:nvSpPr>
        <p:spPr>
          <a:xfrm>
            <a:off x="407144" y="-285915"/>
            <a:ext cx="10515600" cy="1325563"/>
          </a:xfrm>
        </p:spPr>
        <p:txBody>
          <a:bodyPr/>
          <a:lstStyle/>
          <a:p>
            <a:r>
              <a:rPr lang="en-US" dirty="0"/>
              <a:t>MQTT PUBLISH-RESULT</a:t>
            </a:r>
            <a:endParaRPr lang="en-IN" dirty="0"/>
          </a:p>
        </p:txBody>
      </p:sp>
    </p:spTree>
    <p:extLst>
      <p:ext uri="{BB962C8B-B14F-4D97-AF65-F5344CB8AC3E}">
        <p14:creationId xmlns:p14="http://schemas.microsoft.com/office/powerpoint/2010/main" val="4049189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7"/>
          </a:xfrm>
        </p:spPr>
        <p:txBody>
          <a:bodyPr>
            <a:normAutofit/>
          </a:bodyPr>
          <a:lstStyle/>
          <a:p>
            <a:r>
              <a:rPr lang="en-IN" sz="4800" b="1"/>
              <a:t>Power Architecture &amp; Duty Cycle</a:t>
            </a:r>
          </a:p>
        </p:txBody>
      </p:sp>
      <p:sp>
        <p:nvSpPr>
          <p:cNvPr id="5" name="Content Placeholder 4"/>
          <p:cNvSpPr>
            <a:spLocks noGrp="1"/>
          </p:cNvSpPr>
          <p:nvPr>
            <p:ph idx="1"/>
          </p:nvPr>
        </p:nvSpPr>
        <p:spPr/>
        <p:txBody>
          <a:bodyPr vert="horz" lIns="91440" tIns="45720" rIns="91440" bIns="45720" rtlCol="0" anchor="t">
            <a:normAutofit fontScale="92500" lnSpcReduction="20000"/>
          </a:bodyPr>
          <a:lstStyle/>
          <a:p>
            <a:pPr marL="0" indent="0">
              <a:buNone/>
            </a:pPr>
            <a:r>
              <a:rPr lang="en-US" sz="2000" b="1" dirty="0"/>
              <a:t>15-Minute Active Cycle Breakdown</a:t>
            </a:r>
          </a:p>
          <a:p>
            <a:pPr marL="228600" indent="-228600">
              <a:buChar char="•"/>
            </a:pPr>
            <a:r>
              <a:rPr lang="en-US" sz="1500" dirty="0"/>
              <a:t>2 min Warm-up: BME680 thermal stabilization; sensor data discarded</a:t>
            </a:r>
          </a:p>
          <a:p>
            <a:pPr marL="228600" indent="-228600">
              <a:buChar char="•"/>
            </a:pPr>
            <a:r>
              <a:rPr lang="en-US" sz="1500" dirty="0"/>
              <a:t>1 min Sampling: 60 valid samples @ 1 Hz; MQTT publish active</a:t>
            </a:r>
          </a:p>
          <a:p>
            <a:pPr marL="228600" indent="-228600">
              <a:buChar char="•"/>
            </a:pPr>
            <a:r>
              <a:rPr lang="en-US" sz="1500" dirty="0"/>
              <a:t>12 min Deep Sleep: only RTC domain powered; timer wakeup configured</a:t>
            </a:r>
          </a:p>
          <a:p>
            <a:pPr marL="0" indent="0">
              <a:buNone/>
            </a:pPr>
            <a:r>
              <a:rPr lang="en-US" sz="2000" b="1" dirty="0"/>
              <a:t>4-Boot Decision Window (~1 Hour)</a:t>
            </a:r>
          </a:p>
          <a:p>
            <a:pPr marL="228600" indent="-228600">
              <a:buChar char="•"/>
            </a:pPr>
            <a:r>
              <a:rPr lang="en-US" sz="1500" dirty="0"/>
              <a:t>Boot #1: Samples 1–60 collected &amp; buffered</a:t>
            </a:r>
          </a:p>
          <a:p>
            <a:pPr marL="228600" indent="-228600">
              <a:buChar char="•"/>
            </a:pPr>
            <a:r>
              <a:rPr lang="en-US" sz="1500" dirty="0"/>
              <a:t>Boot #2: Samples 61–120 appended to ring buffer</a:t>
            </a:r>
          </a:p>
          <a:p>
            <a:pPr marL="228600" indent="-228600">
              <a:buChar char="•"/>
            </a:pPr>
            <a:r>
              <a:rPr lang="en-US" sz="1500" dirty="0"/>
              <a:t>Boot #3: Samples 121–180 appended to ring buffer</a:t>
            </a:r>
          </a:p>
          <a:p>
            <a:pPr marL="228600" indent="-228600">
              <a:buChar char="•"/>
            </a:pPr>
            <a:r>
              <a:rPr lang="en-US" sz="1500" dirty="0"/>
              <a:t>Boot #4 ★: Samples 181–240 → Decision triggered (compute slope &amp; classify)</a:t>
            </a:r>
          </a:p>
          <a:p>
            <a:pPr marL="0" indent="0">
              <a:buNone/>
            </a:pPr>
            <a:r>
              <a:rPr lang="en-US" sz="2000" b="1" dirty="0"/>
              <a:t>Energy Saving Strategies</a:t>
            </a:r>
          </a:p>
          <a:p>
            <a:pPr marL="228600" indent="-228600">
              <a:buChar char="•"/>
            </a:pPr>
            <a:r>
              <a:rPr lang="en-US" sz="1500" dirty="0"/>
              <a:t>BME680 forced mode only — sleeps between measurements</a:t>
            </a:r>
          </a:p>
          <a:p>
            <a:pPr marL="228600" indent="-228600">
              <a:buChar char="•"/>
            </a:pPr>
            <a:r>
              <a:rPr lang="en-US" sz="1500" dirty="0"/>
              <a:t>ESP32-S3 deep sleep: only RTC domain + RTC memory powered</a:t>
            </a:r>
          </a:p>
          <a:p>
            <a:pPr marL="228600" indent="-228600">
              <a:buChar char="•"/>
            </a:pPr>
            <a:r>
              <a:rPr lang="en-US" sz="1500" dirty="0"/>
              <a:t>WiFi/MQTT active only during the ~3 min active window per cycle</a:t>
            </a:r>
          </a:p>
          <a:p>
            <a:pPr marL="228600" indent="-228600">
              <a:buChar char="•"/>
            </a:pPr>
            <a:r>
              <a:rPr lang="en-US" sz="1500" dirty="0"/>
              <a:t>All state in RTC memory — no NVS flash writes needed</a:t>
            </a:r>
          </a:p>
          <a:p>
            <a:pPr marL="228600" indent="-228600">
              <a:buChar char="•"/>
            </a:pPr>
            <a:r>
              <a:rPr lang="en-US" sz="1500" dirty="0"/>
              <a:t>Effective duty cycle: ~20% active, ~80% deep sleep per 15-min cycle</a:t>
            </a:r>
          </a:p>
        </p:txBody>
      </p:sp>
      <p:pic>
        <p:nvPicPr>
          <p:cNvPr id="6" name="KLE Logo" title="KLE Logo.png"/>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Footer Bar"/>
          <p:cNvPicPr>
            <a:picLocks noChangeAspect="1"/>
          </p:cNvPicPr>
          <p:nvPr/>
        </p:nvPicPr>
        <p:blipFill>
          <a:blip r:embed="rId3"/>
          <a:stretch>
            <a:fillRect/>
          </a:stretch>
        </p:blipFill>
        <p:spPr>
          <a:xfrm>
            <a:off x="0" y="6341320"/>
            <a:ext cx="12192000" cy="5166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ED3E6-A641-78A7-E6B9-D7AD25EB4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A7C62-EE42-4AEE-F23C-7FADDC6B5621}"/>
              </a:ext>
            </a:extLst>
          </p:cNvPr>
          <p:cNvSpPr>
            <a:spLocks noGrp="1"/>
          </p:cNvSpPr>
          <p:nvPr>
            <p:ph type="title"/>
          </p:nvPr>
        </p:nvSpPr>
        <p:spPr>
          <a:xfrm>
            <a:off x="838200" y="365125"/>
            <a:ext cx="10515600" cy="1006477"/>
          </a:xfrm>
        </p:spPr>
        <p:txBody>
          <a:bodyPr>
            <a:normAutofit/>
          </a:bodyPr>
          <a:lstStyle/>
          <a:p>
            <a:r>
              <a:rPr lang="en-IN" sz="4800" b="1" dirty="0"/>
              <a:t>IMPLEMENTAION</a:t>
            </a:r>
          </a:p>
        </p:txBody>
      </p:sp>
      <p:pic>
        <p:nvPicPr>
          <p:cNvPr id="6" name="KLE Logo" title="KLE Logo.png">
            <a:extLst>
              <a:ext uri="{FF2B5EF4-FFF2-40B4-BE49-F238E27FC236}">
                <a16:creationId xmlns:a16="http://schemas.microsoft.com/office/drawing/2014/main" id="{2CFD1C70-DCEB-B1E0-2EF5-2D65B6F62EBE}"/>
              </a:ext>
            </a:extLst>
          </p:cNvPr>
          <p:cNvPicPr preferRelativeResize="0"/>
          <p:nvPr/>
        </p:nvPicPr>
        <p:blipFill>
          <a:blip r:embed="rId2">
            <a:alphaModFix/>
          </a:blip>
          <a:stretch>
            <a:fillRect/>
          </a:stretch>
        </p:blipFill>
        <p:spPr>
          <a:xfrm>
            <a:off x="9015804" y="61523"/>
            <a:ext cx="3176196" cy="599584"/>
          </a:xfrm>
          <a:prstGeom prst="rect">
            <a:avLst/>
          </a:prstGeom>
          <a:noFill/>
          <a:ln>
            <a:noFill/>
          </a:ln>
        </p:spPr>
      </p:pic>
      <p:pic>
        <p:nvPicPr>
          <p:cNvPr id="8" name="Footer Bar">
            <a:extLst>
              <a:ext uri="{FF2B5EF4-FFF2-40B4-BE49-F238E27FC236}">
                <a16:creationId xmlns:a16="http://schemas.microsoft.com/office/drawing/2014/main" id="{552F6BDD-BE04-3C57-EA32-6F9F9EC42AC9}"/>
              </a:ext>
            </a:extLst>
          </p:cNvPr>
          <p:cNvPicPr>
            <a:picLocks noChangeAspect="1"/>
          </p:cNvPicPr>
          <p:nvPr/>
        </p:nvPicPr>
        <p:blipFill>
          <a:blip r:embed="rId3"/>
          <a:stretch>
            <a:fillRect/>
          </a:stretch>
        </p:blipFill>
        <p:spPr>
          <a:xfrm>
            <a:off x="0" y="6341320"/>
            <a:ext cx="12192000" cy="516680"/>
          </a:xfrm>
          <a:prstGeom prst="rect">
            <a:avLst/>
          </a:prstGeom>
        </p:spPr>
      </p:pic>
      <p:pic>
        <p:nvPicPr>
          <p:cNvPr id="9" name="Content Placeholder 8">
            <a:extLst>
              <a:ext uri="{FF2B5EF4-FFF2-40B4-BE49-F238E27FC236}">
                <a16:creationId xmlns:a16="http://schemas.microsoft.com/office/drawing/2014/main" id="{CD1BA522-4ABB-B550-7538-F6B7885BBD51}"/>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87053" y="1371602"/>
            <a:ext cx="6204725" cy="4669056"/>
          </a:xfrm>
          <a:prstGeom prst="rect">
            <a:avLst/>
          </a:prstGeom>
        </p:spPr>
      </p:pic>
      <p:pic>
        <p:nvPicPr>
          <p:cNvPr id="10" name="Content Placeholder 10">
            <a:extLst>
              <a:ext uri="{FF2B5EF4-FFF2-40B4-BE49-F238E27FC236}">
                <a16:creationId xmlns:a16="http://schemas.microsoft.com/office/drawing/2014/main" id="{89E2A165-03FC-489B-56E2-326573AABA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66609" y="2191619"/>
            <a:ext cx="5347169" cy="3004441"/>
          </a:xfrm>
          <a:prstGeom prst="rect">
            <a:avLst/>
          </a:prstGeom>
        </p:spPr>
      </p:pic>
    </p:spTree>
    <p:extLst>
      <p:ext uri="{BB962C8B-B14F-4D97-AF65-F5344CB8AC3E}">
        <p14:creationId xmlns:p14="http://schemas.microsoft.com/office/powerpoint/2010/main" val="120257865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TotalTime>
  <Words>1329</Words>
  <Application>Microsoft Office PowerPoint</Application>
  <PresentationFormat>Widescreen</PresentationFormat>
  <Paragraphs>154</Paragraphs>
  <Slides>18</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Arial</vt:lpstr>
      <vt:lpstr>Calibri</vt:lpstr>
      <vt:lpstr>Calibri Light</vt:lpstr>
      <vt:lpstr>Cambria Math</vt:lpstr>
      <vt:lpstr>Retrospect</vt:lpstr>
      <vt:lpstr>Office Theme</vt:lpstr>
      <vt:lpstr>PowerPoint Presentation</vt:lpstr>
      <vt:lpstr>Problem Statement</vt:lpstr>
      <vt:lpstr>System Overview</vt:lpstr>
      <vt:lpstr>Power Architecture</vt:lpstr>
      <vt:lpstr>System Configuration Parameters</vt:lpstr>
      <vt:lpstr>Architecture</vt:lpstr>
      <vt:lpstr>Sensor &amp; Hardware Drivers</vt:lpstr>
      <vt:lpstr>Data Structures &amp; Ring Buffer</vt:lpstr>
      <vt:lpstr>Ring Buffer Implementation</vt:lpstr>
      <vt:lpstr>Algorithm Flow — Per Boot Cycle</vt:lpstr>
      <vt:lpstr>Algorithm Flow</vt:lpstr>
      <vt:lpstr>Fruit Ripeness</vt:lpstr>
      <vt:lpstr>Communication Implementation</vt:lpstr>
      <vt:lpstr>MQTT Publish &amp; Decision Logic Flow</vt:lpstr>
      <vt:lpstr>MQTT CONNETION</vt:lpstr>
      <vt:lpstr>MQTT PUBLISH-RESULT</vt:lpstr>
      <vt:lpstr>Power Architecture &amp; Duty Cycle</vt:lpstr>
      <vt:lpstr>IMPLEMENTAION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Spoorti B</dc:creator>
  <cp:lastModifiedBy>sanjana gunaga</cp:lastModifiedBy>
  <cp:revision>17</cp:revision>
  <dcterms:created xsi:type="dcterms:W3CDTF">2026-06-04T14:37:03Z</dcterms:created>
  <dcterms:modified xsi:type="dcterms:W3CDTF">2026-06-05T07:14:10Z</dcterms:modified>
</cp:coreProperties>
</file>